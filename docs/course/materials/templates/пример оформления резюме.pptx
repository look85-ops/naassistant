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72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45C"/>
    <a:srgbClr val="FF0000"/>
    <a:srgbClr val="002E5F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126" y="576"/>
      </p:cViewPr>
      <p:guideLst>
        <p:guide orient="horz" pos="3572"/>
        <p:guide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83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04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48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14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03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28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97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56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7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433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97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78DF8-8D5F-4F00-B42A-FF6243F0DFB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8DF5-9290-4F36-97E0-7F62F30C36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99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54AB3CC8-D4F6-4AD0-9BD7-F5D937CE5F3B}"/>
              </a:ext>
            </a:extLst>
          </p:cNvPr>
          <p:cNvSpPr/>
          <p:nvPr/>
        </p:nvSpPr>
        <p:spPr>
          <a:xfrm rot="17547170" flipV="1">
            <a:off x="-1639840" y="4549978"/>
            <a:ext cx="3177516" cy="8182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E399FE11-2D84-487E-8503-3D1DC8605154}"/>
              </a:ext>
            </a:extLst>
          </p:cNvPr>
          <p:cNvSpPr/>
          <p:nvPr/>
        </p:nvSpPr>
        <p:spPr>
          <a:xfrm rot="17547170" flipV="1">
            <a:off x="4060627" y="-211180"/>
            <a:ext cx="8085622" cy="1013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D63BBC-2169-4FB1-8932-ABAE626C8F1F}"/>
              </a:ext>
            </a:extLst>
          </p:cNvPr>
          <p:cNvSpPr/>
          <p:nvPr/>
        </p:nvSpPr>
        <p:spPr>
          <a:xfrm flipV="1">
            <a:off x="-5001" y="2724428"/>
            <a:ext cx="7578014" cy="1685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0" name="Freeform 21"/>
          <p:cNvSpPr>
            <a:spLocks/>
          </p:cNvSpPr>
          <p:nvPr/>
        </p:nvSpPr>
        <p:spPr bwMode="auto">
          <a:xfrm>
            <a:off x="1301335" y="943070"/>
            <a:ext cx="624921" cy="1021002"/>
          </a:xfrm>
          <a:custGeom>
            <a:avLst/>
            <a:gdLst>
              <a:gd name="T0" fmla="*/ 74 w 213"/>
              <a:gd name="T1" fmla="*/ 348 h 348"/>
              <a:gd name="T2" fmla="*/ 0 w 213"/>
              <a:gd name="T3" fmla="*/ 348 h 348"/>
              <a:gd name="T4" fmla="*/ 140 w 213"/>
              <a:gd name="T5" fmla="*/ 0 h 348"/>
              <a:gd name="T6" fmla="*/ 213 w 213"/>
              <a:gd name="T7" fmla="*/ 0 h 348"/>
              <a:gd name="T8" fmla="*/ 74 w 213"/>
              <a:gd name="T9" fmla="*/ 348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348">
                <a:moveTo>
                  <a:pt x="74" y="348"/>
                </a:moveTo>
                <a:lnTo>
                  <a:pt x="0" y="348"/>
                </a:lnTo>
                <a:lnTo>
                  <a:pt x="140" y="0"/>
                </a:lnTo>
                <a:lnTo>
                  <a:pt x="213" y="0"/>
                </a:lnTo>
                <a:lnTo>
                  <a:pt x="74" y="3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1" name="Freeform 22"/>
          <p:cNvSpPr>
            <a:spLocks/>
          </p:cNvSpPr>
          <p:nvPr/>
        </p:nvSpPr>
        <p:spPr bwMode="auto">
          <a:xfrm>
            <a:off x="908194" y="943070"/>
            <a:ext cx="624921" cy="1021002"/>
          </a:xfrm>
          <a:custGeom>
            <a:avLst/>
            <a:gdLst>
              <a:gd name="T0" fmla="*/ 73 w 213"/>
              <a:gd name="T1" fmla="*/ 348 h 348"/>
              <a:gd name="T2" fmla="*/ 0 w 213"/>
              <a:gd name="T3" fmla="*/ 348 h 348"/>
              <a:gd name="T4" fmla="*/ 140 w 213"/>
              <a:gd name="T5" fmla="*/ 0 h 348"/>
              <a:gd name="T6" fmla="*/ 213 w 213"/>
              <a:gd name="T7" fmla="*/ 0 h 348"/>
              <a:gd name="T8" fmla="*/ 73 w 213"/>
              <a:gd name="T9" fmla="*/ 348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348">
                <a:moveTo>
                  <a:pt x="73" y="348"/>
                </a:moveTo>
                <a:lnTo>
                  <a:pt x="0" y="348"/>
                </a:lnTo>
                <a:lnTo>
                  <a:pt x="140" y="0"/>
                </a:lnTo>
                <a:lnTo>
                  <a:pt x="213" y="0"/>
                </a:lnTo>
                <a:lnTo>
                  <a:pt x="73" y="3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32" name="Группа 131"/>
          <p:cNvGrpSpPr/>
          <p:nvPr/>
        </p:nvGrpSpPr>
        <p:grpSpPr>
          <a:xfrm>
            <a:off x="1772089" y="959726"/>
            <a:ext cx="1484555" cy="1021002"/>
            <a:chOff x="6853075" y="4649516"/>
            <a:chExt cx="1018123" cy="700212"/>
          </a:xfrm>
          <a:solidFill>
            <a:schemeClr val="bg1">
              <a:lumMod val="95000"/>
            </a:schemeClr>
          </a:solidFill>
        </p:grpSpPr>
        <p:sp>
          <p:nvSpPr>
            <p:cNvPr id="133" name="Freeform 20"/>
            <p:cNvSpPr>
              <a:spLocks/>
            </p:cNvSpPr>
            <p:nvPr/>
          </p:nvSpPr>
          <p:spPr bwMode="auto">
            <a:xfrm>
              <a:off x="7657915" y="4649516"/>
              <a:ext cx="213283" cy="327973"/>
            </a:xfrm>
            <a:custGeom>
              <a:avLst/>
              <a:gdLst>
                <a:gd name="T0" fmla="*/ 40 w 106"/>
                <a:gd name="T1" fmla="*/ 163 h 163"/>
                <a:gd name="T2" fmla="*/ 0 w 106"/>
                <a:gd name="T3" fmla="*/ 84 h 163"/>
                <a:gd name="T4" fmla="*/ 33 w 106"/>
                <a:gd name="T5" fmla="*/ 0 h 163"/>
                <a:gd name="T6" fmla="*/ 106 w 106"/>
                <a:gd name="T7" fmla="*/ 0 h 163"/>
                <a:gd name="T8" fmla="*/ 40 w 106"/>
                <a:gd name="T9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63">
                  <a:moveTo>
                    <a:pt x="40" y="163"/>
                  </a:moveTo>
                  <a:lnTo>
                    <a:pt x="0" y="84"/>
                  </a:lnTo>
                  <a:lnTo>
                    <a:pt x="33" y="0"/>
                  </a:lnTo>
                  <a:lnTo>
                    <a:pt x="106" y="0"/>
                  </a:lnTo>
                  <a:lnTo>
                    <a:pt x="40" y="1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" name="Oval 25"/>
            <p:cNvSpPr>
              <a:spLocks noChangeArrowheads="1"/>
            </p:cNvSpPr>
            <p:nvPr/>
          </p:nvSpPr>
          <p:spPr bwMode="auto">
            <a:xfrm>
              <a:off x="6853075" y="4649516"/>
              <a:ext cx="305839" cy="30382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" name="Oval 26"/>
            <p:cNvSpPr>
              <a:spLocks noChangeArrowheads="1"/>
            </p:cNvSpPr>
            <p:nvPr/>
          </p:nvSpPr>
          <p:spPr bwMode="auto">
            <a:xfrm>
              <a:off x="7251471" y="4649516"/>
              <a:ext cx="301815" cy="30382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Oval 27"/>
            <p:cNvSpPr>
              <a:spLocks noChangeArrowheads="1"/>
            </p:cNvSpPr>
            <p:nvPr/>
          </p:nvSpPr>
          <p:spPr bwMode="auto">
            <a:xfrm>
              <a:off x="6853075" y="5043888"/>
              <a:ext cx="305839" cy="30584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" name="Oval 28"/>
            <p:cNvSpPr>
              <a:spLocks noChangeArrowheads="1"/>
            </p:cNvSpPr>
            <p:nvPr/>
          </p:nvSpPr>
          <p:spPr bwMode="auto">
            <a:xfrm>
              <a:off x="7251471" y="5043888"/>
              <a:ext cx="301815" cy="30584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6" name="Группа 125"/>
          <p:cNvGrpSpPr/>
          <p:nvPr/>
        </p:nvGrpSpPr>
        <p:grpSpPr>
          <a:xfrm>
            <a:off x="249382" y="1299318"/>
            <a:ext cx="2483985" cy="666346"/>
            <a:chOff x="1160098" y="3805366"/>
            <a:chExt cx="1134955" cy="304459"/>
          </a:xfrm>
          <a:solidFill>
            <a:srgbClr val="C00000"/>
          </a:solidFill>
        </p:grpSpPr>
        <p:sp>
          <p:nvSpPr>
            <p:cNvPr id="116" name="Freeform 6"/>
            <p:cNvSpPr>
              <a:spLocks/>
            </p:cNvSpPr>
            <p:nvPr/>
          </p:nvSpPr>
          <p:spPr bwMode="auto">
            <a:xfrm>
              <a:off x="1992340" y="3805366"/>
              <a:ext cx="112536" cy="304458"/>
            </a:xfrm>
            <a:custGeom>
              <a:avLst/>
              <a:gdLst>
                <a:gd name="T0" fmla="*/ 129 w 129"/>
                <a:gd name="T1" fmla="*/ 349 h 349"/>
                <a:gd name="T2" fmla="*/ 0 w 129"/>
                <a:gd name="T3" fmla="*/ 349 h 349"/>
                <a:gd name="T4" fmla="*/ 0 w 129"/>
                <a:gd name="T5" fmla="*/ 0 h 349"/>
                <a:gd name="T6" fmla="*/ 129 w 129"/>
                <a:gd name="T7" fmla="*/ 0 h 349"/>
                <a:gd name="T8" fmla="*/ 129 w 129"/>
                <a:gd name="T9" fmla="*/ 69 h 349"/>
                <a:gd name="T10" fmla="*/ 68 w 129"/>
                <a:gd name="T11" fmla="*/ 69 h 349"/>
                <a:gd name="T12" fmla="*/ 68 w 129"/>
                <a:gd name="T13" fmla="*/ 279 h 349"/>
                <a:gd name="T14" fmla="*/ 129 w 129"/>
                <a:gd name="T15" fmla="*/ 279 h 349"/>
                <a:gd name="T16" fmla="*/ 129 w 129"/>
                <a:gd name="T17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349">
                  <a:moveTo>
                    <a:pt x="129" y="349"/>
                  </a:moveTo>
                  <a:lnTo>
                    <a:pt x="0" y="349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69"/>
                  </a:lnTo>
                  <a:lnTo>
                    <a:pt x="68" y="69"/>
                  </a:lnTo>
                  <a:lnTo>
                    <a:pt x="68" y="279"/>
                  </a:lnTo>
                  <a:lnTo>
                    <a:pt x="129" y="279"/>
                  </a:lnTo>
                  <a:lnTo>
                    <a:pt x="129" y="3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7"/>
            <p:cNvSpPr>
              <a:spLocks/>
            </p:cNvSpPr>
            <p:nvPr/>
          </p:nvSpPr>
          <p:spPr bwMode="auto">
            <a:xfrm>
              <a:off x="2182517" y="3805366"/>
              <a:ext cx="112536" cy="304458"/>
            </a:xfrm>
            <a:custGeom>
              <a:avLst/>
              <a:gdLst>
                <a:gd name="T0" fmla="*/ 129 w 129"/>
                <a:gd name="T1" fmla="*/ 349 h 349"/>
                <a:gd name="T2" fmla="*/ 0 w 129"/>
                <a:gd name="T3" fmla="*/ 349 h 349"/>
                <a:gd name="T4" fmla="*/ 0 w 129"/>
                <a:gd name="T5" fmla="*/ 279 h 349"/>
                <a:gd name="T6" fmla="*/ 61 w 129"/>
                <a:gd name="T7" fmla="*/ 279 h 349"/>
                <a:gd name="T8" fmla="*/ 61 w 129"/>
                <a:gd name="T9" fmla="*/ 69 h 349"/>
                <a:gd name="T10" fmla="*/ 0 w 129"/>
                <a:gd name="T11" fmla="*/ 69 h 349"/>
                <a:gd name="T12" fmla="*/ 0 w 129"/>
                <a:gd name="T13" fmla="*/ 0 h 349"/>
                <a:gd name="T14" fmla="*/ 129 w 129"/>
                <a:gd name="T15" fmla="*/ 0 h 349"/>
                <a:gd name="T16" fmla="*/ 129 w 129"/>
                <a:gd name="T17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349">
                  <a:moveTo>
                    <a:pt x="129" y="349"/>
                  </a:moveTo>
                  <a:lnTo>
                    <a:pt x="0" y="349"/>
                  </a:lnTo>
                  <a:lnTo>
                    <a:pt x="0" y="279"/>
                  </a:lnTo>
                  <a:lnTo>
                    <a:pt x="61" y="279"/>
                  </a:lnTo>
                  <a:lnTo>
                    <a:pt x="61" y="69"/>
                  </a:lnTo>
                  <a:lnTo>
                    <a:pt x="0" y="69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3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Freeform 21"/>
            <p:cNvSpPr>
              <a:spLocks/>
            </p:cNvSpPr>
            <p:nvPr/>
          </p:nvSpPr>
          <p:spPr bwMode="auto">
            <a:xfrm>
              <a:off x="1276995" y="3806239"/>
              <a:ext cx="185815" cy="303586"/>
            </a:xfrm>
            <a:custGeom>
              <a:avLst/>
              <a:gdLst>
                <a:gd name="T0" fmla="*/ 74 w 213"/>
                <a:gd name="T1" fmla="*/ 348 h 348"/>
                <a:gd name="T2" fmla="*/ 0 w 213"/>
                <a:gd name="T3" fmla="*/ 348 h 348"/>
                <a:gd name="T4" fmla="*/ 140 w 213"/>
                <a:gd name="T5" fmla="*/ 0 h 348"/>
                <a:gd name="T6" fmla="*/ 213 w 213"/>
                <a:gd name="T7" fmla="*/ 0 h 348"/>
                <a:gd name="T8" fmla="*/ 74 w 213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348">
                  <a:moveTo>
                    <a:pt x="74" y="348"/>
                  </a:moveTo>
                  <a:lnTo>
                    <a:pt x="0" y="348"/>
                  </a:lnTo>
                  <a:lnTo>
                    <a:pt x="140" y="0"/>
                  </a:lnTo>
                  <a:lnTo>
                    <a:pt x="213" y="0"/>
                  </a:lnTo>
                  <a:lnTo>
                    <a:pt x="74" y="3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Freeform 22"/>
            <p:cNvSpPr>
              <a:spLocks/>
            </p:cNvSpPr>
            <p:nvPr/>
          </p:nvSpPr>
          <p:spPr bwMode="auto">
            <a:xfrm>
              <a:off x="1160098" y="3806239"/>
              <a:ext cx="185815" cy="303586"/>
            </a:xfrm>
            <a:custGeom>
              <a:avLst/>
              <a:gdLst>
                <a:gd name="T0" fmla="*/ 73 w 213"/>
                <a:gd name="T1" fmla="*/ 348 h 348"/>
                <a:gd name="T2" fmla="*/ 0 w 213"/>
                <a:gd name="T3" fmla="*/ 348 h 348"/>
                <a:gd name="T4" fmla="*/ 140 w 213"/>
                <a:gd name="T5" fmla="*/ 0 h 348"/>
                <a:gd name="T6" fmla="*/ 213 w 213"/>
                <a:gd name="T7" fmla="*/ 0 h 348"/>
                <a:gd name="T8" fmla="*/ 73 w 213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348">
                  <a:moveTo>
                    <a:pt x="73" y="348"/>
                  </a:moveTo>
                  <a:lnTo>
                    <a:pt x="0" y="348"/>
                  </a:lnTo>
                  <a:lnTo>
                    <a:pt x="140" y="0"/>
                  </a:lnTo>
                  <a:lnTo>
                    <a:pt x="213" y="0"/>
                  </a:lnTo>
                  <a:lnTo>
                    <a:pt x="73" y="3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120" name="Группа 119"/>
            <p:cNvGrpSpPr/>
            <p:nvPr/>
          </p:nvGrpSpPr>
          <p:grpSpPr>
            <a:xfrm>
              <a:off x="1489854" y="3806239"/>
              <a:ext cx="441420" cy="303586"/>
              <a:chOff x="6853075" y="4649516"/>
              <a:chExt cx="1018123" cy="700212"/>
            </a:xfrm>
            <a:grpFill/>
          </p:grpSpPr>
          <p:sp>
            <p:nvSpPr>
              <p:cNvPr id="121" name="Freeform 20"/>
              <p:cNvSpPr>
                <a:spLocks/>
              </p:cNvSpPr>
              <p:nvPr/>
            </p:nvSpPr>
            <p:spPr bwMode="auto">
              <a:xfrm>
                <a:off x="7657915" y="4649516"/>
                <a:ext cx="213283" cy="327973"/>
              </a:xfrm>
              <a:custGeom>
                <a:avLst/>
                <a:gdLst>
                  <a:gd name="T0" fmla="*/ 40 w 106"/>
                  <a:gd name="T1" fmla="*/ 163 h 163"/>
                  <a:gd name="T2" fmla="*/ 0 w 106"/>
                  <a:gd name="T3" fmla="*/ 84 h 163"/>
                  <a:gd name="T4" fmla="*/ 33 w 106"/>
                  <a:gd name="T5" fmla="*/ 0 h 163"/>
                  <a:gd name="T6" fmla="*/ 106 w 106"/>
                  <a:gd name="T7" fmla="*/ 0 h 163"/>
                  <a:gd name="T8" fmla="*/ 40 w 106"/>
                  <a:gd name="T9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63">
                    <a:moveTo>
                      <a:pt x="40" y="163"/>
                    </a:moveTo>
                    <a:lnTo>
                      <a:pt x="0" y="84"/>
                    </a:lnTo>
                    <a:lnTo>
                      <a:pt x="33" y="0"/>
                    </a:lnTo>
                    <a:lnTo>
                      <a:pt x="106" y="0"/>
                    </a:lnTo>
                    <a:lnTo>
                      <a:pt x="40" y="1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2" name="Oval 25"/>
              <p:cNvSpPr>
                <a:spLocks noChangeArrowheads="1"/>
              </p:cNvSpPr>
              <p:nvPr/>
            </p:nvSpPr>
            <p:spPr bwMode="auto">
              <a:xfrm>
                <a:off x="6853075" y="4649516"/>
                <a:ext cx="305839" cy="303828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3" name="Oval 26"/>
              <p:cNvSpPr>
                <a:spLocks noChangeArrowheads="1"/>
              </p:cNvSpPr>
              <p:nvPr/>
            </p:nvSpPr>
            <p:spPr bwMode="auto">
              <a:xfrm>
                <a:off x="7251471" y="4649516"/>
                <a:ext cx="301815" cy="303828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4" name="Oval 27"/>
              <p:cNvSpPr>
                <a:spLocks noChangeArrowheads="1"/>
              </p:cNvSpPr>
              <p:nvPr/>
            </p:nvSpPr>
            <p:spPr bwMode="auto">
              <a:xfrm>
                <a:off x="6853075" y="5043888"/>
                <a:ext cx="305839" cy="30584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5" name="Oval 28"/>
              <p:cNvSpPr>
                <a:spLocks noChangeArrowheads="1"/>
              </p:cNvSpPr>
              <p:nvPr/>
            </p:nvSpPr>
            <p:spPr bwMode="auto">
              <a:xfrm>
                <a:off x="7251471" y="5043888"/>
                <a:ext cx="301815" cy="30584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pic>
        <p:nvPicPr>
          <p:cNvPr id="60" name="Рисунок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76" y="9734450"/>
            <a:ext cx="1784399" cy="753746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580221" y="2097399"/>
            <a:ext cx="2878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Mont Bold" panose="00000900000000000000" pitchFamily="50" charset="0"/>
              </a:rPr>
              <a:t>Игорь Александрович</a:t>
            </a:r>
            <a:br>
              <a:rPr lang="ru-RU" sz="1600" dirty="0">
                <a:solidFill>
                  <a:srgbClr val="002060"/>
                </a:solidFill>
                <a:latin typeface="Mont Bold" panose="00000900000000000000" pitchFamily="50" charset="0"/>
              </a:rPr>
            </a:br>
            <a:r>
              <a:rPr lang="ru-RU" sz="1600" dirty="0">
                <a:solidFill>
                  <a:srgbClr val="002060"/>
                </a:solidFill>
                <a:latin typeface="Mont Bold" panose="00000900000000000000" pitchFamily="50" charset="0"/>
              </a:rPr>
              <a:t>КОВАЛЕВ</a:t>
            </a:r>
            <a:endParaRPr lang="ru-RU" sz="1600" b="1" dirty="0">
              <a:solidFill>
                <a:srgbClr val="002060"/>
              </a:solidFill>
              <a:latin typeface="Mont Bold" panose="00000900000000000000" pitchFamily="50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3503055" y="404974"/>
            <a:ext cx="40699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>
                <a:solidFill>
                  <a:srgbClr val="292929"/>
                </a:solidFill>
                <a:latin typeface="Mont" panose="00000700000000000000" pitchFamily="50" charset="0"/>
              </a:rPr>
              <a:t>Кандидат технических наук, </a:t>
            </a:r>
            <a:br>
              <a:rPr lang="ru-RU" sz="1400" dirty="0">
                <a:solidFill>
                  <a:srgbClr val="292929"/>
                </a:solidFill>
                <a:latin typeface="Mont" panose="00000700000000000000" pitchFamily="50" charset="0"/>
              </a:rPr>
            </a:br>
            <a:r>
              <a:rPr lang="ru-RU" sz="1400" dirty="0">
                <a:solidFill>
                  <a:srgbClr val="292929"/>
                </a:solidFill>
                <a:latin typeface="Mont" panose="00000700000000000000" pitchFamily="50" charset="0"/>
              </a:rPr>
              <a:t>доцент кафедры «Управление эксплуатационной работой» </a:t>
            </a:r>
            <a:br>
              <a:rPr lang="ru-RU" sz="1400" dirty="0">
                <a:solidFill>
                  <a:srgbClr val="292929"/>
                </a:solidFill>
                <a:latin typeface="Mont" panose="00000700000000000000" pitchFamily="50" charset="0"/>
              </a:rPr>
            </a:br>
            <a:r>
              <a:rPr lang="ru-RU" sz="1400" dirty="0">
                <a:solidFill>
                  <a:srgbClr val="292929"/>
                </a:solidFill>
                <a:latin typeface="Mont" panose="00000700000000000000" pitchFamily="50" charset="0"/>
              </a:rPr>
              <a:t>Уральского государственного университета путей сообщения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3265" y="2885184"/>
            <a:ext cx="6918787" cy="137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ru-RU" sz="1400" b="1" dirty="0">
                <a:latin typeface="Mont" panose="00000700000000000000" pitchFamily="50" charset="0"/>
              </a:rPr>
              <a:t>Стаж научно-педагогической работы: более 20 лет. 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ru-RU" sz="1400" b="1" dirty="0">
                <a:latin typeface="Mont" panose="00000700000000000000" pitchFamily="50" charset="0"/>
              </a:rPr>
              <a:t>Автор </a:t>
            </a:r>
            <a:r>
              <a:rPr lang="ru-RU" sz="1400" b="1">
                <a:latin typeface="Mont" panose="00000700000000000000" pitchFamily="50" charset="0"/>
              </a:rPr>
              <a:t>более 20 </a:t>
            </a:r>
            <a:r>
              <a:rPr lang="ru-RU" sz="1400" b="1" dirty="0">
                <a:latin typeface="Mont" panose="00000700000000000000" pitchFamily="50" charset="0"/>
              </a:rPr>
              <a:t>научных публикаций.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ru-RU" sz="1400" b="1" dirty="0">
                <a:latin typeface="Mont" panose="00000700000000000000" pitchFamily="50" charset="0"/>
              </a:rPr>
              <a:t>В 2007 г. защитил диссертацию на соискание ученой степени </a:t>
            </a:r>
            <a:br>
              <a:rPr lang="ru-RU" sz="1400" b="1" dirty="0">
                <a:latin typeface="Mont" panose="00000700000000000000" pitchFamily="50" charset="0"/>
              </a:rPr>
            </a:br>
            <a:r>
              <a:rPr lang="ru-RU" sz="1400" b="1" dirty="0">
                <a:latin typeface="Mont" panose="00000700000000000000" pitchFamily="50" charset="0"/>
              </a:rPr>
              <a:t>кандидата технических наук на тему  «Автоматизация процесса управления перевозками массовых грузов кольцевыми маршрутами».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4498" y="4780442"/>
            <a:ext cx="5568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Mont Bold" panose="00000900000000000000" pitchFamily="50" charset="0"/>
              </a:rPr>
              <a:t>ПРОФЕССИОНАЛЬНЫЕ ИНТЕРЕСЫ</a:t>
            </a:r>
          </a:p>
        </p:txBody>
      </p:sp>
      <p:sp>
        <p:nvSpPr>
          <p:cNvPr id="163" name="Freeform 5"/>
          <p:cNvSpPr>
            <a:spLocks noEditPoints="1"/>
          </p:cNvSpPr>
          <p:nvPr/>
        </p:nvSpPr>
        <p:spPr bwMode="auto">
          <a:xfrm rot="5400000">
            <a:off x="6798760" y="6765360"/>
            <a:ext cx="3195777" cy="3204963"/>
          </a:xfrm>
          <a:custGeom>
            <a:avLst/>
            <a:gdLst>
              <a:gd name="T0" fmla="*/ 100 w 200"/>
              <a:gd name="T1" fmla="*/ 200 h 200"/>
              <a:gd name="T2" fmla="*/ 61 w 200"/>
              <a:gd name="T3" fmla="*/ 192 h 200"/>
              <a:gd name="T4" fmla="*/ 30 w 200"/>
              <a:gd name="T5" fmla="*/ 170 h 200"/>
              <a:gd name="T6" fmla="*/ 8 w 200"/>
              <a:gd name="T7" fmla="*/ 139 h 200"/>
              <a:gd name="T8" fmla="*/ 0 w 200"/>
              <a:gd name="T9" fmla="*/ 100 h 200"/>
              <a:gd name="T10" fmla="*/ 8 w 200"/>
              <a:gd name="T11" fmla="*/ 61 h 200"/>
              <a:gd name="T12" fmla="*/ 30 w 200"/>
              <a:gd name="T13" fmla="*/ 30 h 200"/>
              <a:gd name="T14" fmla="*/ 61 w 200"/>
              <a:gd name="T15" fmla="*/ 8 h 200"/>
              <a:gd name="T16" fmla="*/ 100 w 200"/>
              <a:gd name="T17" fmla="*/ 0 h 200"/>
              <a:gd name="T18" fmla="*/ 139 w 200"/>
              <a:gd name="T19" fmla="*/ 8 h 200"/>
              <a:gd name="T20" fmla="*/ 170 w 200"/>
              <a:gd name="T21" fmla="*/ 30 h 200"/>
              <a:gd name="T22" fmla="*/ 192 w 200"/>
              <a:gd name="T23" fmla="*/ 61 h 200"/>
              <a:gd name="T24" fmla="*/ 200 w 200"/>
              <a:gd name="T25" fmla="*/ 100 h 200"/>
              <a:gd name="T26" fmla="*/ 192 w 200"/>
              <a:gd name="T27" fmla="*/ 139 h 200"/>
              <a:gd name="T28" fmla="*/ 170 w 200"/>
              <a:gd name="T29" fmla="*/ 170 h 200"/>
              <a:gd name="T30" fmla="*/ 139 w 200"/>
              <a:gd name="T31" fmla="*/ 192 h 200"/>
              <a:gd name="T32" fmla="*/ 100 w 200"/>
              <a:gd name="T33" fmla="*/ 200 h 200"/>
              <a:gd name="T34" fmla="*/ 100 w 200"/>
              <a:gd name="T35" fmla="*/ 40 h 200"/>
              <a:gd name="T36" fmla="*/ 40 w 200"/>
              <a:gd name="T37" fmla="*/ 100 h 200"/>
              <a:gd name="T38" fmla="*/ 100 w 200"/>
              <a:gd name="T39" fmla="*/ 160 h 200"/>
              <a:gd name="T40" fmla="*/ 160 w 200"/>
              <a:gd name="T41" fmla="*/ 100 h 200"/>
              <a:gd name="T42" fmla="*/ 100 w 200"/>
              <a:gd name="T43" fmla="*/ 4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00" h="200">
                <a:moveTo>
                  <a:pt x="100" y="200"/>
                </a:moveTo>
                <a:cubicBezTo>
                  <a:pt x="87" y="200"/>
                  <a:pt x="74" y="197"/>
                  <a:pt x="61" y="192"/>
                </a:cubicBezTo>
                <a:cubicBezTo>
                  <a:pt x="49" y="187"/>
                  <a:pt x="39" y="180"/>
                  <a:pt x="30" y="170"/>
                </a:cubicBezTo>
                <a:cubicBezTo>
                  <a:pt x="20" y="161"/>
                  <a:pt x="13" y="151"/>
                  <a:pt x="8" y="139"/>
                </a:cubicBezTo>
                <a:cubicBezTo>
                  <a:pt x="3" y="126"/>
                  <a:pt x="0" y="113"/>
                  <a:pt x="0" y="100"/>
                </a:cubicBezTo>
                <a:cubicBezTo>
                  <a:pt x="0" y="87"/>
                  <a:pt x="3" y="73"/>
                  <a:pt x="8" y="61"/>
                </a:cubicBezTo>
                <a:cubicBezTo>
                  <a:pt x="13" y="49"/>
                  <a:pt x="20" y="39"/>
                  <a:pt x="30" y="30"/>
                </a:cubicBezTo>
                <a:cubicBezTo>
                  <a:pt x="39" y="20"/>
                  <a:pt x="49" y="13"/>
                  <a:pt x="61" y="8"/>
                </a:cubicBezTo>
                <a:cubicBezTo>
                  <a:pt x="74" y="3"/>
                  <a:pt x="87" y="0"/>
                  <a:pt x="100" y="0"/>
                </a:cubicBezTo>
                <a:cubicBezTo>
                  <a:pt x="113" y="0"/>
                  <a:pt x="127" y="3"/>
                  <a:pt x="139" y="8"/>
                </a:cubicBezTo>
                <a:cubicBezTo>
                  <a:pt x="151" y="13"/>
                  <a:pt x="161" y="20"/>
                  <a:pt x="170" y="30"/>
                </a:cubicBezTo>
                <a:cubicBezTo>
                  <a:pt x="180" y="39"/>
                  <a:pt x="187" y="49"/>
                  <a:pt x="192" y="61"/>
                </a:cubicBezTo>
                <a:cubicBezTo>
                  <a:pt x="197" y="73"/>
                  <a:pt x="200" y="87"/>
                  <a:pt x="200" y="100"/>
                </a:cubicBezTo>
                <a:cubicBezTo>
                  <a:pt x="200" y="113"/>
                  <a:pt x="197" y="126"/>
                  <a:pt x="192" y="139"/>
                </a:cubicBezTo>
                <a:cubicBezTo>
                  <a:pt x="187" y="151"/>
                  <a:pt x="180" y="161"/>
                  <a:pt x="170" y="170"/>
                </a:cubicBezTo>
                <a:cubicBezTo>
                  <a:pt x="161" y="180"/>
                  <a:pt x="151" y="187"/>
                  <a:pt x="139" y="192"/>
                </a:cubicBezTo>
                <a:cubicBezTo>
                  <a:pt x="127" y="197"/>
                  <a:pt x="113" y="200"/>
                  <a:pt x="100" y="200"/>
                </a:cubicBezTo>
                <a:close/>
                <a:moveTo>
                  <a:pt x="100" y="40"/>
                </a:moveTo>
                <a:cubicBezTo>
                  <a:pt x="67" y="40"/>
                  <a:pt x="40" y="67"/>
                  <a:pt x="40" y="100"/>
                </a:cubicBezTo>
                <a:cubicBezTo>
                  <a:pt x="40" y="133"/>
                  <a:pt x="67" y="160"/>
                  <a:pt x="100" y="160"/>
                </a:cubicBezTo>
                <a:cubicBezTo>
                  <a:pt x="133" y="160"/>
                  <a:pt x="160" y="133"/>
                  <a:pt x="160" y="100"/>
                </a:cubicBezTo>
                <a:cubicBezTo>
                  <a:pt x="160" y="67"/>
                  <a:pt x="133" y="40"/>
                  <a:pt x="100" y="4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6573175" y="1227555"/>
            <a:ext cx="2035282" cy="2041157"/>
            <a:chOff x="-1040912" y="7165972"/>
            <a:chExt cx="2390045" cy="2396944"/>
          </a:xfrm>
          <a:solidFill>
            <a:srgbClr val="C00000"/>
          </a:solidFill>
        </p:grpSpPr>
        <p:sp>
          <p:nvSpPr>
            <p:cNvPr id="105" name="Freeform 21"/>
            <p:cNvSpPr>
              <a:spLocks/>
            </p:cNvSpPr>
            <p:nvPr/>
          </p:nvSpPr>
          <p:spPr bwMode="auto">
            <a:xfrm>
              <a:off x="-117955" y="7165972"/>
              <a:ext cx="1467088" cy="2396944"/>
            </a:xfrm>
            <a:custGeom>
              <a:avLst/>
              <a:gdLst>
                <a:gd name="T0" fmla="*/ 74 w 213"/>
                <a:gd name="T1" fmla="*/ 348 h 348"/>
                <a:gd name="T2" fmla="*/ 0 w 213"/>
                <a:gd name="T3" fmla="*/ 348 h 348"/>
                <a:gd name="T4" fmla="*/ 140 w 213"/>
                <a:gd name="T5" fmla="*/ 0 h 348"/>
                <a:gd name="T6" fmla="*/ 213 w 213"/>
                <a:gd name="T7" fmla="*/ 0 h 348"/>
                <a:gd name="T8" fmla="*/ 74 w 213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348">
                  <a:moveTo>
                    <a:pt x="74" y="348"/>
                  </a:moveTo>
                  <a:lnTo>
                    <a:pt x="0" y="348"/>
                  </a:lnTo>
                  <a:lnTo>
                    <a:pt x="140" y="0"/>
                  </a:lnTo>
                  <a:lnTo>
                    <a:pt x="213" y="0"/>
                  </a:lnTo>
                  <a:lnTo>
                    <a:pt x="74" y="3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" name="Freeform 22"/>
            <p:cNvSpPr>
              <a:spLocks/>
            </p:cNvSpPr>
            <p:nvPr/>
          </p:nvSpPr>
          <p:spPr bwMode="auto">
            <a:xfrm>
              <a:off x="-1040912" y="7165972"/>
              <a:ext cx="1467088" cy="2396944"/>
            </a:xfrm>
            <a:custGeom>
              <a:avLst/>
              <a:gdLst>
                <a:gd name="T0" fmla="*/ 73 w 213"/>
                <a:gd name="T1" fmla="*/ 348 h 348"/>
                <a:gd name="T2" fmla="*/ 0 w 213"/>
                <a:gd name="T3" fmla="*/ 348 h 348"/>
                <a:gd name="T4" fmla="*/ 140 w 213"/>
                <a:gd name="T5" fmla="*/ 0 h 348"/>
                <a:gd name="T6" fmla="*/ 213 w 213"/>
                <a:gd name="T7" fmla="*/ 0 h 348"/>
                <a:gd name="T8" fmla="*/ 73 w 213"/>
                <a:gd name="T9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348">
                  <a:moveTo>
                    <a:pt x="73" y="348"/>
                  </a:moveTo>
                  <a:lnTo>
                    <a:pt x="0" y="348"/>
                  </a:lnTo>
                  <a:lnTo>
                    <a:pt x="140" y="0"/>
                  </a:lnTo>
                  <a:lnTo>
                    <a:pt x="213" y="0"/>
                  </a:lnTo>
                  <a:lnTo>
                    <a:pt x="73" y="3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9225CC4B-61F3-436B-A5D1-30D91578D1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43"/>
          <a:stretch/>
        </p:blipFill>
        <p:spPr>
          <a:xfrm>
            <a:off x="584066" y="-88469"/>
            <a:ext cx="2182003" cy="2056695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A04529BE-5966-4028-968E-3C6EC5D18253}"/>
              </a:ext>
            </a:extLst>
          </p:cNvPr>
          <p:cNvSpPr txBox="1"/>
          <p:nvPr/>
        </p:nvSpPr>
        <p:spPr>
          <a:xfrm>
            <a:off x="969274" y="6237660"/>
            <a:ext cx="29172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300" b="1" dirty="0">
                <a:latin typeface="Mont" panose="00000700000000000000" pitchFamily="50" charset="0"/>
              </a:rPr>
              <a:t>автоматизации процессов управления железнодорожным транспортом</a:t>
            </a:r>
            <a:endParaRPr lang="en-US" sz="1300" b="1" dirty="0">
              <a:latin typeface="Mont" panose="00000700000000000000" pitchFamily="50" charset="0"/>
            </a:endParaRPr>
          </a:p>
        </p:txBody>
      </p:sp>
      <p:sp>
        <p:nvSpPr>
          <p:cNvPr id="98" name="Freeform 20">
            <a:extLst>
              <a:ext uri="{FF2B5EF4-FFF2-40B4-BE49-F238E27FC236}">
                <a16:creationId xmlns:a16="http://schemas.microsoft.com/office/drawing/2014/main" id="{9AE9CF20-4A67-4371-9CB1-6155BF7280E5}"/>
              </a:ext>
            </a:extLst>
          </p:cNvPr>
          <p:cNvSpPr>
            <a:spLocks/>
          </p:cNvSpPr>
          <p:nvPr/>
        </p:nvSpPr>
        <p:spPr bwMode="auto">
          <a:xfrm>
            <a:off x="676349" y="5422964"/>
            <a:ext cx="267963" cy="478228"/>
          </a:xfrm>
          <a:custGeom>
            <a:avLst/>
            <a:gdLst>
              <a:gd name="T0" fmla="*/ 40 w 106"/>
              <a:gd name="T1" fmla="*/ 163 h 163"/>
              <a:gd name="T2" fmla="*/ 0 w 106"/>
              <a:gd name="T3" fmla="*/ 84 h 163"/>
              <a:gd name="T4" fmla="*/ 33 w 106"/>
              <a:gd name="T5" fmla="*/ 0 h 163"/>
              <a:gd name="T6" fmla="*/ 106 w 106"/>
              <a:gd name="T7" fmla="*/ 0 h 163"/>
              <a:gd name="T8" fmla="*/ 40 w 106"/>
              <a:gd name="T9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63">
                <a:moveTo>
                  <a:pt x="40" y="163"/>
                </a:moveTo>
                <a:lnTo>
                  <a:pt x="0" y="84"/>
                </a:lnTo>
                <a:lnTo>
                  <a:pt x="33" y="0"/>
                </a:lnTo>
                <a:lnTo>
                  <a:pt x="106" y="0"/>
                </a:lnTo>
                <a:lnTo>
                  <a:pt x="40" y="16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052F78-629B-4A04-85A6-5BA97E7AA9C3}"/>
              </a:ext>
            </a:extLst>
          </p:cNvPr>
          <p:cNvSpPr txBox="1"/>
          <p:nvPr/>
        </p:nvSpPr>
        <p:spPr>
          <a:xfrm>
            <a:off x="4374548" y="5417399"/>
            <a:ext cx="28902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300" b="1" dirty="0">
                <a:latin typeface="Mont" panose="00000700000000000000" pitchFamily="50" charset="0"/>
              </a:rPr>
              <a:t>оценки эффективности развития железнодорожных транспортных объектов</a:t>
            </a:r>
          </a:p>
        </p:txBody>
      </p:sp>
      <p:sp>
        <p:nvSpPr>
          <p:cNvPr id="100" name="Freeform 20">
            <a:extLst>
              <a:ext uri="{FF2B5EF4-FFF2-40B4-BE49-F238E27FC236}">
                <a16:creationId xmlns:a16="http://schemas.microsoft.com/office/drawing/2014/main" id="{9065384F-F2D5-4795-AAAE-20527761810C}"/>
              </a:ext>
            </a:extLst>
          </p:cNvPr>
          <p:cNvSpPr>
            <a:spLocks/>
          </p:cNvSpPr>
          <p:nvPr/>
        </p:nvSpPr>
        <p:spPr bwMode="auto">
          <a:xfrm>
            <a:off x="4027731" y="5422964"/>
            <a:ext cx="267963" cy="478228"/>
          </a:xfrm>
          <a:custGeom>
            <a:avLst/>
            <a:gdLst>
              <a:gd name="T0" fmla="*/ 40 w 106"/>
              <a:gd name="T1" fmla="*/ 163 h 163"/>
              <a:gd name="T2" fmla="*/ 0 w 106"/>
              <a:gd name="T3" fmla="*/ 84 h 163"/>
              <a:gd name="T4" fmla="*/ 33 w 106"/>
              <a:gd name="T5" fmla="*/ 0 h 163"/>
              <a:gd name="T6" fmla="*/ 106 w 106"/>
              <a:gd name="T7" fmla="*/ 0 h 163"/>
              <a:gd name="T8" fmla="*/ 40 w 106"/>
              <a:gd name="T9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63">
                <a:moveTo>
                  <a:pt x="40" y="163"/>
                </a:moveTo>
                <a:lnTo>
                  <a:pt x="0" y="84"/>
                </a:lnTo>
                <a:lnTo>
                  <a:pt x="33" y="0"/>
                </a:lnTo>
                <a:lnTo>
                  <a:pt x="106" y="0"/>
                </a:lnTo>
                <a:lnTo>
                  <a:pt x="40" y="16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9A3EC4-35B6-40BC-B277-D2373D69A561}"/>
              </a:ext>
            </a:extLst>
          </p:cNvPr>
          <p:cNvSpPr txBox="1"/>
          <p:nvPr/>
        </p:nvSpPr>
        <p:spPr>
          <a:xfrm>
            <a:off x="969274" y="5416718"/>
            <a:ext cx="29172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300" b="1" dirty="0">
                <a:latin typeface="Mont" panose="00000700000000000000" pitchFamily="50" charset="0"/>
              </a:rPr>
              <a:t>исследование технологии транспортных процессов</a:t>
            </a:r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AEA59E8A-8A4F-4B1C-A8BF-036C5B3C8ADB}"/>
              </a:ext>
            </a:extLst>
          </p:cNvPr>
          <p:cNvSpPr>
            <a:spLocks/>
          </p:cNvSpPr>
          <p:nvPr/>
        </p:nvSpPr>
        <p:spPr bwMode="auto">
          <a:xfrm>
            <a:off x="646121" y="6244399"/>
            <a:ext cx="267963" cy="478228"/>
          </a:xfrm>
          <a:custGeom>
            <a:avLst/>
            <a:gdLst>
              <a:gd name="T0" fmla="*/ 40 w 106"/>
              <a:gd name="T1" fmla="*/ 163 h 163"/>
              <a:gd name="T2" fmla="*/ 0 w 106"/>
              <a:gd name="T3" fmla="*/ 84 h 163"/>
              <a:gd name="T4" fmla="*/ 33 w 106"/>
              <a:gd name="T5" fmla="*/ 0 h 163"/>
              <a:gd name="T6" fmla="*/ 106 w 106"/>
              <a:gd name="T7" fmla="*/ 0 h 163"/>
              <a:gd name="T8" fmla="*/ 40 w 106"/>
              <a:gd name="T9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63">
                <a:moveTo>
                  <a:pt x="40" y="163"/>
                </a:moveTo>
                <a:lnTo>
                  <a:pt x="0" y="84"/>
                </a:lnTo>
                <a:lnTo>
                  <a:pt x="33" y="0"/>
                </a:lnTo>
                <a:lnTo>
                  <a:pt x="106" y="0"/>
                </a:lnTo>
                <a:lnTo>
                  <a:pt x="40" y="16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04529BE-5966-4028-968E-3C6EC5D18253}"/>
              </a:ext>
            </a:extLst>
          </p:cNvPr>
          <p:cNvSpPr txBox="1"/>
          <p:nvPr/>
        </p:nvSpPr>
        <p:spPr>
          <a:xfrm>
            <a:off x="4368620" y="6237660"/>
            <a:ext cx="333294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300" b="1" dirty="0">
                <a:latin typeface="Mont" panose="00000700000000000000" pitchFamily="50" charset="0"/>
              </a:rPr>
              <a:t>рационализация технологии работы и технической структуры транспортных систем промышленных предприятий </a:t>
            </a:r>
            <a:br>
              <a:rPr lang="ru-RU" sz="1300" b="1" dirty="0">
                <a:latin typeface="Mont" panose="00000700000000000000" pitchFamily="50" charset="0"/>
              </a:rPr>
            </a:br>
            <a:r>
              <a:rPr lang="ru-RU" sz="1300" b="1" dirty="0">
                <a:latin typeface="Mont" panose="00000700000000000000" pitchFamily="50" charset="0"/>
              </a:rPr>
              <a:t>и транспортно-складских комплексов</a:t>
            </a:r>
          </a:p>
        </p:txBody>
      </p:sp>
      <p:sp>
        <p:nvSpPr>
          <p:cNvPr id="95" name="Freeform 20">
            <a:extLst>
              <a:ext uri="{FF2B5EF4-FFF2-40B4-BE49-F238E27FC236}">
                <a16:creationId xmlns:a16="http://schemas.microsoft.com/office/drawing/2014/main" id="{AEA59E8A-8A4F-4B1C-A8BF-036C5B3C8ADB}"/>
              </a:ext>
            </a:extLst>
          </p:cNvPr>
          <p:cNvSpPr>
            <a:spLocks/>
          </p:cNvSpPr>
          <p:nvPr/>
        </p:nvSpPr>
        <p:spPr bwMode="auto">
          <a:xfrm>
            <a:off x="4023281" y="6244399"/>
            <a:ext cx="267963" cy="478228"/>
          </a:xfrm>
          <a:custGeom>
            <a:avLst/>
            <a:gdLst>
              <a:gd name="T0" fmla="*/ 40 w 106"/>
              <a:gd name="T1" fmla="*/ 163 h 163"/>
              <a:gd name="T2" fmla="*/ 0 w 106"/>
              <a:gd name="T3" fmla="*/ 84 h 163"/>
              <a:gd name="T4" fmla="*/ 33 w 106"/>
              <a:gd name="T5" fmla="*/ 0 h 163"/>
              <a:gd name="T6" fmla="*/ 106 w 106"/>
              <a:gd name="T7" fmla="*/ 0 h 163"/>
              <a:gd name="T8" fmla="*/ 40 w 106"/>
              <a:gd name="T9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63">
                <a:moveTo>
                  <a:pt x="40" y="163"/>
                </a:moveTo>
                <a:lnTo>
                  <a:pt x="0" y="84"/>
                </a:lnTo>
                <a:lnTo>
                  <a:pt x="33" y="0"/>
                </a:lnTo>
                <a:lnTo>
                  <a:pt x="106" y="0"/>
                </a:lnTo>
                <a:lnTo>
                  <a:pt x="40" y="16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635F72F8-BA3A-45ED-942D-2FA0238F492C}"/>
              </a:ext>
            </a:extLst>
          </p:cNvPr>
          <p:cNvGrpSpPr/>
          <p:nvPr/>
        </p:nvGrpSpPr>
        <p:grpSpPr>
          <a:xfrm>
            <a:off x="2487068" y="9965483"/>
            <a:ext cx="4686403" cy="365806"/>
            <a:chOff x="1574432" y="4547733"/>
            <a:chExt cx="10699396" cy="835160"/>
          </a:xfrm>
          <a:solidFill>
            <a:srgbClr val="002060"/>
          </a:solidFill>
        </p:grpSpPr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31C02F7A-56CF-4C3B-ABE1-BA5C7D011A88}"/>
                </a:ext>
              </a:extLst>
            </p:cNvPr>
            <p:cNvSpPr/>
            <p:nvPr/>
          </p:nvSpPr>
          <p:spPr>
            <a:xfrm>
              <a:off x="2824667" y="4550550"/>
              <a:ext cx="788792" cy="450738"/>
            </a:xfrm>
            <a:custGeom>
              <a:avLst/>
              <a:gdLst>
                <a:gd name="connsiteX0" fmla="*/ 746199 w 788791"/>
                <a:gd name="connsiteY0" fmla="*/ 404483 h 450737"/>
                <a:gd name="connsiteX1" fmla="*/ 624782 w 788791"/>
                <a:gd name="connsiteY1" fmla="*/ 404483 h 450737"/>
                <a:gd name="connsiteX2" fmla="*/ 404202 w 788791"/>
                <a:gd name="connsiteY2" fmla="*/ 183903 h 450737"/>
                <a:gd name="connsiteX3" fmla="*/ 183903 w 788791"/>
                <a:gd name="connsiteY3" fmla="*/ 404483 h 450737"/>
                <a:gd name="connsiteX4" fmla="*/ 62486 w 788791"/>
                <a:gd name="connsiteY4" fmla="*/ 404483 h 450737"/>
                <a:gd name="connsiteX5" fmla="*/ 404202 w 788791"/>
                <a:gd name="connsiteY5" fmla="*/ 62486 h 450737"/>
                <a:gd name="connsiteX6" fmla="*/ 746199 w 788791"/>
                <a:gd name="connsiteY6" fmla="*/ 404483 h 45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8791" h="450737">
                  <a:moveTo>
                    <a:pt x="746199" y="404483"/>
                  </a:moveTo>
                  <a:lnTo>
                    <a:pt x="624782" y="404483"/>
                  </a:lnTo>
                  <a:cubicBezTo>
                    <a:pt x="624782" y="282661"/>
                    <a:pt x="526025" y="183903"/>
                    <a:pt x="404202" y="183903"/>
                  </a:cubicBezTo>
                  <a:cubicBezTo>
                    <a:pt x="282489" y="184059"/>
                    <a:pt x="183903" y="282770"/>
                    <a:pt x="183903" y="404483"/>
                  </a:cubicBezTo>
                  <a:lnTo>
                    <a:pt x="62486" y="404483"/>
                  </a:lnTo>
                  <a:cubicBezTo>
                    <a:pt x="62486" y="215713"/>
                    <a:pt x="215432" y="62642"/>
                    <a:pt x="404202" y="62486"/>
                  </a:cubicBezTo>
                  <a:cubicBezTo>
                    <a:pt x="593017" y="62641"/>
                    <a:pt x="746044" y="215668"/>
                    <a:pt x="746199" y="404483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EE632DBC-E1C8-42D7-86B3-BC6D76C6DC2A}"/>
                </a:ext>
              </a:extLst>
            </p:cNvPr>
            <p:cNvSpPr/>
            <p:nvPr/>
          </p:nvSpPr>
          <p:spPr>
            <a:xfrm>
              <a:off x="2835935" y="4977061"/>
              <a:ext cx="760621" cy="197198"/>
            </a:xfrm>
            <a:custGeom>
              <a:avLst/>
              <a:gdLst>
                <a:gd name="connsiteX0" fmla="*/ 724226 w 760620"/>
                <a:gd name="connsiteY0" fmla="*/ 62486 h 197197"/>
                <a:gd name="connsiteX1" fmla="*/ 689012 w 760620"/>
                <a:gd name="connsiteY1" fmla="*/ 146999 h 197197"/>
                <a:gd name="connsiteX2" fmla="*/ 97418 w 760620"/>
                <a:gd name="connsiteY2" fmla="*/ 146999 h 197197"/>
                <a:gd name="connsiteX3" fmla="*/ 62486 w 760620"/>
                <a:gd name="connsiteY3" fmla="*/ 62486 h 197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620" h="197197">
                  <a:moveTo>
                    <a:pt x="724226" y="62486"/>
                  </a:moveTo>
                  <a:cubicBezTo>
                    <a:pt x="716375" y="92124"/>
                    <a:pt x="704528" y="120555"/>
                    <a:pt x="689012" y="146999"/>
                  </a:cubicBezTo>
                  <a:lnTo>
                    <a:pt x="97418" y="146999"/>
                  </a:lnTo>
                  <a:cubicBezTo>
                    <a:pt x="82115" y="120484"/>
                    <a:pt x="70370" y="92068"/>
                    <a:pt x="62486" y="62486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C5BB0B28-F9E1-4765-9CA3-70446FD05DB0}"/>
                </a:ext>
              </a:extLst>
            </p:cNvPr>
            <p:cNvSpPr/>
            <p:nvPr/>
          </p:nvSpPr>
          <p:spPr>
            <a:xfrm>
              <a:off x="2941577" y="5147778"/>
              <a:ext cx="563423" cy="197198"/>
            </a:xfrm>
            <a:custGeom>
              <a:avLst/>
              <a:gdLst>
                <a:gd name="connsiteX0" fmla="*/ 513224 w 563422"/>
                <a:gd name="connsiteY0" fmla="*/ 62486 h 197197"/>
                <a:gd name="connsiteX1" fmla="*/ 287855 w 563422"/>
                <a:gd name="connsiteY1" fmla="*/ 146999 h 197197"/>
                <a:gd name="connsiteX2" fmla="*/ 62486 w 563422"/>
                <a:gd name="connsiteY2" fmla="*/ 62486 h 197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3422" h="197197">
                  <a:moveTo>
                    <a:pt x="513224" y="62486"/>
                  </a:moveTo>
                  <a:cubicBezTo>
                    <a:pt x="451014" y="117352"/>
                    <a:pt x="370802" y="147432"/>
                    <a:pt x="287855" y="146999"/>
                  </a:cubicBezTo>
                  <a:cubicBezTo>
                    <a:pt x="204936" y="147274"/>
                    <a:pt x="124779" y="117215"/>
                    <a:pt x="62486" y="62486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28F451A3-7926-465A-A450-E8D3C0C478AA}"/>
                </a:ext>
              </a:extLst>
            </p:cNvPr>
            <p:cNvSpPr/>
            <p:nvPr/>
          </p:nvSpPr>
          <p:spPr>
            <a:xfrm>
              <a:off x="8232961" y="4548860"/>
              <a:ext cx="1070503" cy="788791"/>
            </a:xfrm>
            <a:custGeom>
              <a:avLst/>
              <a:gdLst>
                <a:gd name="connsiteX0" fmla="*/ 1030728 w 1070503"/>
                <a:gd name="connsiteY0" fmla="*/ 268980 h 788791"/>
                <a:gd name="connsiteX1" fmla="*/ 977202 w 1070503"/>
                <a:gd name="connsiteY1" fmla="*/ 402511 h 788791"/>
                <a:gd name="connsiteX2" fmla="*/ 749580 w 1070503"/>
                <a:gd name="connsiteY2" fmla="*/ 402511 h 788791"/>
                <a:gd name="connsiteX3" fmla="*/ 696055 w 1070503"/>
                <a:gd name="connsiteY3" fmla="*/ 268980 h 788791"/>
                <a:gd name="connsiteX4" fmla="*/ 681124 w 1070503"/>
                <a:gd name="connsiteY4" fmla="*/ 232640 h 788791"/>
                <a:gd name="connsiteX5" fmla="*/ 476602 w 1070503"/>
                <a:gd name="connsiteY5" fmla="*/ 742819 h 788791"/>
                <a:gd name="connsiteX6" fmla="*/ 323351 w 1070503"/>
                <a:gd name="connsiteY6" fmla="*/ 742819 h 788791"/>
                <a:gd name="connsiteX7" fmla="*/ 240527 w 1070503"/>
                <a:gd name="connsiteY7" fmla="*/ 536324 h 788791"/>
                <a:gd name="connsiteX8" fmla="*/ 62486 w 1070503"/>
                <a:gd name="connsiteY8" fmla="*/ 536324 h 788791"/>
                <a:gd name="connsiteX9" fmla="*/ 116011 w 1070503"/>
                <a:gd name="connsiteY9" fmla="*/ 402511 h 788791"/>
                <a:gd name="connsiteX10" fmla="*/ 331238 w 1070503"/>
                <a:gd name="connsiteY10" fmla="*/ 402511 h 788791"/>
                <a:gd name="connsiteX11" fmla="*/ 384764 w 1070503"/>
                <a:gd name="connsiteY11" fmla="*/ 536324 h 788791"/>
                <a:gd name="connsiteX12" fmla="*/ 399976 w 1070503"/>
                <a:gd name="connsiteY12" fmla="*/ 574074 h 788791"/>
                <a:gd name="connsiteX13" fmla="*/ 605062 w 1070503"/>
                <a:gd name="connsiteY13" fmla="*/ 62486 h 788791"/>
                <a:gd name="connsiteX14" fmla="*/ 757186 w 1070503"/>
                <a:gd name="connsiteY14" fmla="*/ 62486 h 788791"/>
                <a:gd name="connsiteX15" fmla="*/ 840009 w 1070503"/>
                <a:gd name="connsiteY15" fmla="*/ 268980 h 788791"/>
                <a:gd name="connsiteX16" fmla="*/ 1030728 w 1070503"/>
                <a:gd name="connsiteY16" fmla="*/ 268980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70503" h="788791">
                  <a:moveTo>
                    <a:pt x="1030728" y="268980"/>
                  </a:moveTo>
                  <a:lnTo>
                    <a:pt x="977202" y="402511"/>
                  </a:lnTo>
                  <a:lnTo>
                    <a:pt x="749580" y="402511"/>
                  </a:lnTo>
                  <a:lnTo>
                    <a:pt x="696055" y="268980"/>
                  </a:lnTo>
                  <a:lnTo>
                    <a:pt x="681124" y="232640"/>
                  </a:lnTo>
                  <a:lnTo>
                    <a:pt x="476602" y="742819"/>
                  </a:lnTo>
                  <a:lnTo>
                    <a:pt x="323351" y="742819"/>
                  </a:lnTo>
                  <a:lnTo>
                    <a:pt x="240527" y="536324"/>
                  </a:lnTo>
                  <a:lnTo>
                    <a:pt x="62486" y="536324"/>
                  </a:lnTo>
                  <a:lnTo>
                    <a:pt x="116011" y="402511"/>
                  </a:lnTo>
                  <a:lnTo>
                    <a:pt x="331238" y="402511"/>
                  </a:lnTo>
                  <a:lnTo>
                    <a:pt x="384764" y="536324"/>
                  </a:lnTo>
                  <a:lnTo>
                    <a:pt x="399976" y="574074"/>
                  </a:lnTo>
                  <a:lnTo>
                    <a:pt x="605062" y="62486"/>
                  </a:lnTo>
                  <a:lnTo>
                    <a:pt x="757186" y="62486"/>
                  </a:lnTo>
                  <a:lnTo>
                    <a:pt x="840009" y="268980"/>
                  </a:lnTo>
                  <a:lnTo>
                    <a:pt x="1030728" y="268980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ED5F769C-DA70-4972-9665-7C81998F63C8}"/>
                </a:ext>
              </a:extLst>
            </p:cNvPr>
            <p:cNvSpPr/>
            <p:nvPr/>
          </p:nvSpPr>
          <p:spPr>
            <a:xfrm>
              <a:off x="11963946" y="4548860"/>
              <a:ext cx="309882" cy="422567"/>
            </a:xfrm>
            <a:custGeom>
              <a:avLst/>
              <a:gdLst>
                <a:gd name="connsiteX0" fmla="*/ 270108 w 309882"/>
                <a:gd name="connsiteY0" fmla="*/ 62486 h 422566"/>
                <a:gd name="connsiteX1" fmla="*/ 144746 w 309882"/>
                <a:gd name="connsiteY1" fmla="*/ 383073 h 422566"/>
                <a:gd name="connsiteX2" fmla="*/ 62486 w 309882"/>
                <a:gd name="connsiteY2" fmla="*/ 226724 h 422566"/>
                <a:gd name="connsiteX3" fmla="*/ 126716 w 309882"/>
                <a:gd name="connsiteY3" fmla="*/ 62486 h 422566"/>
                <a:gd name="connsiteX4" fmla="*/ 270108 w 309882"/>
                <a:gd name="connsiteY4" fmla="*/ 62486 h 42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882" h="422566">
                  <a:moveTo>
                    <a:pt x="270108" y="62486"/>
                  </a:moveTo>
                  <a:lnTo>
                    <a:pt x="144746" y="383073"/>
                  </a:lnTo>
                  <a:lnTo>
                    <a:pt x="62486" y="226724"/>
                  </a:lnTo>
                  <a:lnTo>
                    <a:pt x="126716" y="62486"/>
                  </a:lnTo>
                  <a:lnTo>
                    <a:pt x="27010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97C8E506-DCBA-461A-BD1E-BAD89100CAC5}"/>
                </a:ext>
              </a:extLst>
            </p:cNvPr>
            <p:cNvSpPr/>
            <p:nvPr/>
          </p:nvSpPr>
          <p:spPr>
            <a:xfrm>
              <a:off x="11492924" y="4548860"/>
              <a:ext cx="591594" cy="788791"/>
            </a:xfrm>
            <a:custGeom>
              <a:avLst/>
              <a:gdLst>
                <a:gd name="connsiteX0" fmla="*/ 470122 w 591593"/>
                <a:gd name="connsiteY0" fmla="*/ 745636 h 788791"/>
                <a:gd name="connsiteX1" fmla="*/ 325323 w 591593"/>
                <a:gd name="connsiteY1" fmla="*/ 745636 h 788791"/>
                <a:gd name="connsiteX2" fmla="*/ 401385 w 591593"/>
                <a:gd name="connsiteY2" fmla="*/ 556326 h 788791"/>
                <a:gd name="connsiteX3" fmla="*/ 212921 w 591593"/>
                <a:gd name="connsiteY3" fmla="*/ 197144 h 788791"/>
                <a:gd name="connsiteX4" fmla="*/ 62486 w 591593"/>
                <a:gd name="connsiteY4" fmla="*/ 197144 h 788791"/>
                <a:gd name="connsiteX5" fmla="*/ 62486 w 591593"/>
                <a:gd name="connsiteY5" fmla="*/ 62486 h 788791"/>
                <a:gd name="connsiteX6" fmla="*/ 294053 w 591593"/>
                <a:gd name="connsiteY6" fmla="*/ 62486 h 788791"/>
                <a:gd name="connsiteX7" fmla="*/ 302505 w 591593"/>
                <a:gd name="connsiteY7" fmla="*/ 62486 h 788791"/>
                <a:gd name="connsiteX8" fmla="*/ 549283 w 591593"/>
                <a:gd name="connsiteY8" fmla="*/ 548720 h 788791"/>
                <a:gd name="connsiteX9" fmla="*/ 470122 w 591593"/>
                <a:gd name="connsiteY9" fmla="*/ 745636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1593" h="788791">
                  <a:moveTo>
                    <a:pt x="470122" y="745636"/>
                  </a:moveTo>
                  <a:lnTo>
                    <a:pt x="325323" y="745636"/>
                  </a:lnTo>
                  <a:lnTo>
                    <a:pt x="401385" y="556326"/>
                  </a:lnTo>
                  <a:lnTo>
                    <a:pt x="212921" y="197144"/>
                  </a:lnTo>
                  <a:lnTo>
                    <a:pt x="62486" y="197144"/>
                  </a:lnTo>
                  <a:lnTo>
                    <a:pt x="62486" y="62486"/>
                  </a:lnTo>
                  <a:lnTo>
                    <a:pt x="294053" y="62486"/>
                  </a:lnTo>
                  <a:lnTo>
                    <a:pt x="302505" y="62486"/>
                  </a:lnTo>
                  <a:lnTo>
                    <a:pt x="549283" y="548720"/>
                  </a:lnTo>
                  <a:lnTo>
                    <a:pt x="470122" y="74563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5A768EB8-22FF-4B59-971D-4A0749654629}"/>
                </a:ext>
              </a:extLst>
            </p:cNvPr>
            <p:cNvSpPr/>
            <p:nvPr/>
          </p:nvSpPr>
          <p:spPr>
            <a:xfrm>
              <a:off x="1856988" y="4549423"/>
              <a:ext cx="507080" cy="788791"/>
            </a:xfrm>
            <a:custGeom>
              <a:avLst/>
              <a:gdLst>
                <a:gd name="connsiteX0" fmla="*/ 388708 w 507080"/>
                <a:gd name="connsiteY0" fmla="*/ 742819 h 788791"/>
                <a:gd name="connsiteX1" fmla="*/ 244471 w 507080"/>
                <a:gd name="connsiteY1" fmla="*/ 742819 h 788791"/>
                <a:gd name="connsiteX2" fmla="*/ 320252 w 507080"/>
                <a:gd name="connsiteY2" fmla="*/ 554354 h 788791"/>
                <a:gd name="connsiteX3" fmla="*/ 62486 w 507080"/>
                <a:gd name="connsiteY3" fmla="*/ 62486 h 788791"/>
                <a:gd name="connsiteX4" fmla="*/ 213483 w 507080"/>
                <a:gd name="connsiteY4" fmla="*/ 62486 h 788791"/>
                <a:gd name="connsiteX5" fmla="*/ 221935 w 507080"/>
                <a:gd name="connsiteY5" fmla="*/ 62486 h 788791"/>
                <a:gd name="connsiteX6" fmla="*/ 467587 w 507080"/>
                <a:gd name="connsiteY6" fmla="*/ 546747 h 788791"/>
                <a:gd name="connsiteX7" fmla="*/ 388708 w 507080"/>
                <a:gd name="connsiteY7" fmla="*/ 742819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7080" h="788791">
                  <a:moveTo>
                    <a:pt x="388708" y="742819"/>
                  </a:moveTo>
                  <a:lnTo>
                    <a:pt x="244471" y="742819"/>
                  </a:lnTo>
                  <a:lnTo>
                    <a:pt x="320252" y="554354"/>
                  </a:lnTo>
                  <a:lnTo>
                    <a:pt x="62486" y="62486"/>
                  </a:lnTo>
                  <a:lnTo>
                    <a:pt x="213483" y="62486"/>
                  </a:lnTo>
                  <a:lnTo>
                    <a:pt x="221935" y="62486"/>
                  </a:lnTo>
                  <a:lnTo>
                    <a:pt x="467587" y="546747"/>
                  </a:lnTo>
                  <a:lnTo>
                    <a:pt x="388708" y="742819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50B54C6A-558F-4537-8731-88CEF660F672}"/>
                </a:ext>
              </a:extLst>
            </p:cNvPr>
            <p:cNvSpPr/>
            <p:nvPr/>
          </p:nvSpPr>
          <p:spPr>
            <a:xfrm>
              <a:off x="1574432" y="4549423"/>
              <a:ext cx="507080" cy="788791"/>
            </a:xfrm>
            <a:custGeom>
              <a:avLst/>
              <a:gdLst>
                <a:gd name="connsiteX0" fmla="*/ 388989 w 507080"/>
                <a:gd name="connsiteY0" fmla="*/ 742819 h 788791"/>
                <a:gd name="connsiteX1" fmla="*/ 244471 w 507080"/>
                <a:gd name="connsiteY1" fmla="*/ 742819 h 788791"/>
                <a:gd name="connsiteX2" fmla="*/ 320252 w 507080"/>
                <a:gd name="connsiteY2" fmla="*/ 554354 h 788791"/>
                <a:gd name="connsiteX3" fmla="*/ 62486 w 507080"/>
                <a:gd name="connsiteY3" fmla="*/ 62486 h 788791"/>
                <a:gd name="connsiteX4" fmla="*/ 213765 w 507080"/>
                <a:gd name="connsiteY4" fmla="*/ 62486 h 788791"/>
                <a:gd name="connsiteX5" fmla="*/ 222216 w 507080"/>
                <a:gd name="connsiteY5" fmla="*/ 62486 h 788791"/>
                <a:gd name="connsiteX6" fmla="*/ 467587 w 507080"/>
                <a:gd name="connsiteY6" fmla="*/ 546747 h 788791"/>
                <a:gd name="connsiteX7" fmla="*/ 388989 w 507080"/>
                <a:gd name="connsiteY7" fmla="*/ 742819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7080" h="788791">
                  <a:moveTo>
                    <a:pt x="388989" y="742819"/>
                  </a:moveTo>
                  <a:lnTo>
                    <a:pt x="244471" y="742819"/>
                  </a:lnTo>
                  <a:lnTo>
                    <a:pt x="320252" y="554354"/>
                  </a:lnTo>
                  <a:lnTo>
                    <a:pt x="62486" y="62486"/>
                  </a:lnTo>
                  <a:lnTo>
                    <a:pt x="213765" y="62486"/>
                  </a:lnTo>
                  <a:lnTo>
                    <a:pt x="222216" y="62486"/>
                  </a:lnTo>
                  <a:lnTo>
                    <a:pt x="467587" y="546747"/>
                  </a:lnTo>
                  <a:lnTo>
                    <a:pt x="388989" y="742819"/>
                  </a:lnTo>
                  <a:close/>
                </a:path>
              </a:pathLst>
            </a:custGeom>
            <a:grpFill/>
            <a:ln w="9525">
              <a:solidFill>
                <a:srgbClr val="FFFFFF">
                  <a:alpha val="18000"/>
                </a:srgbClr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45F69985-24BA-4649-9A7D-67996E09B524}"/>
                </a:ext>
              </a:extLst>
            </p:cNvPr>
            <p:cNvSpPr/>
            <p:nvPr/>
          </p:nvSpPr>
          <p:spPr>
            <a:xfrm>
              <a:off x="2246877" y="4549423"/>
              <a:ext cx="309882" cy="422567"/>
            </a:xfrm>
            <a:custGeom>
              <a:avLst/>
              <a:gdLst>
                <a:gd name="connsiteX0" fmla="*/ 144182 w 309882"/>
                <a:gd name="connsiteY0" fmla="*/ 381665 h 422566"/>
                <a:gd name="connsiteX1" fmla="*/ 62486 w 309882"/>
                <a:gd name="connsiteY1" fmla="*/ 225878 h 422566"/>
                <a:gd name="connsiteX2" fmla="*/ 128125 w 309882"/>
                <a:gd name="connsiteY2" fmla="*/ 62486 h 422566"/>
                <a:gd name="connsiteX3" fmla="*/ 272361 w 309882"/>
                <a:gd name="connsiteY3" fmla="*/ 62486 h 422566"/>
                <a:gd name="connsiteX4" fmla="*/ 144182 w 309882"/>
                <a:gd name="connsiteY4" fmla="*/ 381665 h 42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882" h="422566">
                  <a:moveTo>
                    <a:pt x="144182" y="381665"/>
                  </a:moveTo>
                  <a:lnTo>
                    <a:pt x="62486" y="225878"/>
                  </a:lnTo>
                  <a:lnTo>
                    <a:pt x="128125" y="62486"/>
                  </a:lnTo>
                  <a:lnTo>
                    <a:pt x="272361" y="62486"/>
                  </a:lnTo>
                  <a:lnTo>
                    <a:pt x="144182" y="381665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249689EA-C9B0-476F-8BF8-6A08F8A4C7D4}"/>
                </a:ext>
              </a:extLst>
            </p:cNvPr>
            <p:cNvSpPr/>
            <p:nvPr/>
          </p:nvSpPr>
          <p:spPr>
            <a:xfrm>
              <a:off x="2436469" y="4549423"/>
              <a:ext cx="478909" cy="788791"/>
            </a:xfrm>
            <a:custGeom>
              <a:avLst/>
              <a:gdLst>
                <a:gd name="connsiteX0" fmla="*/ 144182 w 478909"/>
                <a:gd name="connsiteY0" fmla="*/ 742819 h 788791"/>
                <a:gd name="connsiteX1" fmla="*/ 62486 w 478909"/>
                <a:gd name="connsiteY1" fmla="*/ 587032 h 788791"/>
                <a:gd name="connsiteX2" fmla="*/ 273769 w 478909"/>
                <a:gd name="connsiteY2" fmla="*/ 62486 h 788791"/>
                <a:gd name="connsiteX3" fmla="*/ 418287 w 478909"/>
                <a:gd name="connsiteY3" fmla="*/ 62486 h 788791"/>
                <a:gd name="connsiteX4" fmla="*/ 144182 w 478909"/>
                <a:gd name="connsiteY4" fmla="*/ 742819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909" h="788791">
                  <a:moveTo>
                    <a:pt x="144182" y="742819"/>
                  </a:moveTo>
                  <a:lnTo>
                    <a:pt x="62486" y="587032"/>
                  </a:lnTo>
                  <a:lnTo>
                    <a:pt x="273769" y="62486"/>
                  </a:lnTo>
                  <a:lnTo>
                    <a:pt x="418287" y="62486"/>
                  </a:lnTo>
                  <a:lnTo>
                    <a:pt x="144182" y="742819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5F5DB3B9-6C00-47D3-B2A8-ECAAC893E0A9}"/>
                </a:ext>
              </a:extLst>
            </p:cNvPr>
            <p:cNvSpPr/>
            <p:nvPr/>
          </p:nvSpPr>
          <p:spPr>
            <a:xfrm>
              <a:off x="3654025" y="4550550"/>
              <a:ext cx="704278" cy="788791"/>
            </a:xfrm>
            <a:custGeom>
              <a:avLst/>
              <a:gdLst>
                <a:gd name="connsiteX0" fmla="*/ 658306 w 704278"/>
                <a:gd name="connsiteY0" fmla="*/ 399131 h 788791"/>
                <a:gd name="connsiteX1" fmla="*/ 62486 w 704278"/>
                <a:gd name="connsiteY1" fmla="*/ 738593 h 788791"/>
                <a:gd name="connsiteX2" fmla="*/ 62486 w 704278"/>
                <a:gd name="connsiteY2" fmla="*/ 62486 h 788791"/>
                <a:gd name="connsiteX3" fmla="*/ 66711 w 704278"/>
                <a:gd name="connsiteY3" fmla="*/ 394905 h 788791"/>
                <a:gd name="connsiteX4" fmla="*/ 354902 w 704278"/>
                <a:gd name="connsiteY4" fmla="*/ 573510 h 788791"/>
                <a:gd name="connsiteX5" fmla="*/ 358001 w 704278"/>
                <a:gd name="connsiteY5" fmla="*/ 235457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278" h="788791">
                  <a:moveTo>
                    <a:pt x="658306" y="399131"/>
                  </a:moveTo>
                  <a:lnTo>
                    <a:pt x="62486" y="738593"/>
                  </a:lnTo>
                  <a:lnTo>
                    <a:pt x="62486" y="62486"/>
                  </a:lnTo>
                  <a:close/>
                  <a:moveTo>
                    <a:pt x="66711" y="394905"/>
                  </a:moveTo>
                  <a:lnTo>
                    <a:pt x="354902" y="573510"/>
                  </a:lnTo>
                  <a:cubicBezTo>
                    <a:pt x="356029" y="460826"/>
                    <a:pt x="357062" y="348141"/>
                    <a:pt x="358001" y="235457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F869C6D6-5EE9-451C-A0AE-D319503C1ABD}"/>
                </a:ext>
              </a:extLst>
            </p:cNvPr>
            <p:cNvSpPr/>
            <p:nvPr/>
          </p:nvSpPr>
          <p:spPr>
            <a:xfrm>
              <a:off x="4316892" y="4899872"/>
              <a:ext cx="816963" cy="450738"/>
            </a:xfrm>
            <a:custGeom>
              <a:avLst/>
              <a:gdLst>
                <a:gd name="connsiteX0" fmla="*/ 604498 w 816962"/>
                <a:gd name="connsiteY0" fmla="*/ 62486 h 450737"/>
                <a:gd name="connsiteX1" fmla="*/ 452656 w 816962"/>
                <a:gd name="connsiteY1" fmla="*/ 161930 h 450737"/>
                <a:gd name="connsiteX2" fmla="*/ 380819 w 816962"/>
                <a:gd name="connsiteY2" fmla="*/ 161930 h 450737"/>
                <a:gd name="connsiteX3" fmla="*/ 228695 w 816962"/>
                <a:gd name="connsiteY3" fmla="*/ 62486 h 450737"/>
                <a:gd name="connsiteX4" fmla="*/ 62486 w 816962"/>
                <a:gd name="connsiteY4" fmla="*/ 228977 h 450737"/>
                <a:gd name="connsiteX5" fmla="*/ 228695 w 816962"/>
                <a:gd name="connsiteY5" fmla="*/ 395187 h 450737"/>
                <a:gd name="connsiteX6" fmla="*/ 380819 w 816962"/>
                <a:gd name="connsiteY6" fmla="*/ 295743 h 450737"/>
                <a:gd name="connsiteX7" fmla="*/ 452656 w 816962"/>
                <a:gd name="connsiteY7" fmla="*/ 295743 h 450737"/>
                <a:gd name="connsiteX8" fmla="*/ 604498 w 816962"/>
                <a:gd name="connsiteY8" fmla="*/ 395187 h 450737"/>
                <a:gd name="connsiteX9" fmla="*/ 770990 w 816962"/>
                <a:gd name="connsiteY9" fmla="*/ 228977 h 450737"/>
                <a:gd name="connsiteX10" fmla="*/ 604498 w 816962"/>
                <a:gd name="connsiteY10" fmla="*/ 62486 h 45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6962" h="450737">
                  <a:moveTo>
                    <a:pt x="604498" y="62486"/>
                  </a:moveTo>
                  <a:cubicBezTo>
                    <a:pt x="538676" y="62704"/>
                    <a:pt x="479163" y="101681"/>
                    <a:pt x="452656" y="161930"/>
                  </a:cubicBezTo>
                  <a:lnTo>
                    <a:pt x="380819" y="161930"/>
                  </a:lnTo>
                  <a:cubicBezTo>
                    <a:pt x="354214" y="101636"/>
                    <a:pt x="294598" y="62666"/>
                    <a:pt x="228695" y="62486"/>
                  </a:cubicBezTo>
                  <a:cubicBezTo>
                    <a:pt x="136855" y="62642"/>
                    <a:pt x="62486" y="137137"/>
                    <a:pt x="62486" y="228977"/>
                  </a:cubicBezTo>
                  <a:cubicBezTo>
                    <a:pt x="62641" y="320708"/>
                    <a:pt x="136965" y="395032"/>
                    <a:pt x="228695" y="395187"/>
                  </a:cubicBezTo>
                  <a:cubicBezTo>
                    <a:pt x="294598" y="395007"/>
                    <a:pt x="354214" y="356036"/>
                    <a:pt x="380819" y="295743"/>
                  </a:cubicBezTo>
                  <a:lnTo>
                    <a:pt x="452656" y="295743"/>
                  </a:lnTo>
                  <a:cubicBezTo>
                    <a:pt x="479163" y="355992"/>
                    <a:pt x="538676" y="394968"/>
                    <a:pt x="604498" y="395187"/>
                  </a:cubicBezTo>
                  <a:cubicBezTo>
                    <a:pt x="696339" y="395187"/>
                    <a:pt x="770834" y="320818"/>
                    <a:pt x="770990" y="228977"/>
                  </a:cubicBezTo>
                  <a:cubicBezTo>
                    <a:pt x="770835" y="137091"/>
                    <a:pt x="696385" y="62641"/>
                    <a:pt x="604498" y="62486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ABB0ACED-BCEC-478B-8E02-A7DD6E9DB3C6}"/>
                </a:ext>
              </a:extLst>
            </p:cNvPr>
            <p:cNvSpPr/>
            <p:nvPr/>
          </p:nvSpPr>
          <p:spPr>
            <a:xfrm>
              <a:off x="4330977" y="4551114"/>
              <a:ext cx="788792" cy="253540"/>
            </a:xfrm>
            <a:custGeom>
              <a:avLst/>
              <a:gdLst>
                <a:gd name="connsiteX0" fmla="*/ 62486 w 788791"/>
                <a:gd name="connsiteY0" fmla="*/ 62486 h 253540"/>
                <a:gd name="connsiteX1" fmla="*/ 742537 w 788791"/>
                <a:gd name="connsiteY1" fmla="*/ 62486 h 253540"/>
                <a:gd name="connsiteX2" fmla="*/ 742537 w 788791"/>
                <a:gd name="connsiteY2" fmla="*/ 196299 h 253540"/>
                <a:gd name="connsiteX3" fmla="*/ 62486 w 788791"/>
                <a:gd name="connsiteY3" fmla="*/ 196299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91" h="253540">
                  <a:moveTo>
                    <a:pt x="62486" y="62486"/>
                  </a:moveTo>
                  <a:lnTo>
                    <a:pt x="742537" y="62486"/>
                  </a:lnTo>
                  <a:lnTo>
                    <a:pt x="742537" y="196299"/>
                  </a:lnTo>
                  <a:lnTo>
                    <a:pt x="62486" y="196299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69E784CD-1704-4286-B7A9-2078D09B6A87}"/>
                </a:ext>
              </a:extLst>
            </p:cNvPr>
            <p:cNvSpPr/>
            <p:nvPr/>
          </p:nvSpPr>
          <p:spPr>
            <a:xfrm>
              <a:off x="5199775" y="4551395"/>
              <a:ext cx="591594" cy="788791"/>
            </a:xfrm>
            <a:custGeom>
              <a:avLst/>
              <a:gdLst>
                <a:gd name="connsiteX0" fmla="*/ 468432 w 591593"/>
                <a:gd name="connsiteY0" fmla="*/ 742537 h 788791"/>
                <a:gd name="connsiteX1" fmla="*/ 324478 w 591593"/>
                <a:gd name="connsiteY1" fmla="*/ 742537 h 788791"/>
                <a:gd name="connsiteX2" fmla="*/ 399976 w 591593"/>
                <a:gd name="connsiteY2" fmla="*/ 554072 h 788791"/>
                <a:gd name="connsiteX3" fmla="*/ 212356 w 591593"/>
                <a:gd name="connsiteY3" fmla="*/ 196299 h 788791"/>
                <a:gd name="connsiteX4" fmla="*/ 62486 w 591593"/>
                <a:gd name="connsiteY4" fmla="*/ 196299 h 788791"/>
                <a:gd name="connsiteX5" fmla="*/ 62486 w 591593"/>
                <a:gd name="connsiteY5" fmla="*/ 62486 h 788791"/>
                <a:gd name="connsiteX6" fmla="*/ 293208 w 591593"/>
                <a:gd name="connsiteY6" fmla="*/ 62486 h 788791"/>
                <a:gd name="connsiteX7" fmla="*/ 301941 w 591593"/>
                <a:gd name="connsiteY7" fmla="*/ 62486 h 788791"/>
                <a:gd name="connsiteX8" fmla="*/ 547311 w 591593"/>
                <a:gd name="connsiteY8" fmla="*/ 546466 h 788791"/>
                <a:gd name="connsiteX9" fmla="*/ 468432 w 591593"/>
                <a:gd name="connsiteY9" fmla="*/ 742537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1593" h="788791">
                  <a:moveTo>
                    <a:pt x="468432" y="742537"/>
                  </a:moveTo>
                  <a:lnTo>
                    <a:pt x="324478" y="742537"/>
                  </a:lnTo>
                  <a:lnTo>
                    <a:pt x="399976" y="554072"/>
                  </a:lnTo>
                  <a:lnTo>
                    <a:pt x="212356" y="196299"/>
                  </a:lnTo>
                  <a:lnTo>
                    <a:pt x="62486" y="196299"/>
                  </a:lnTo>
                  <a:lnTo>
                    <a:pt x="62486" y="62486"/>
                  </a:lnTo>
                  <a:lnTo>
                    <a:pt x="293208" y="62486"/>
                  </a:lnTo>
                  <a:lnTo>
                    <a:pt x="301941" y="62486"/>
                  </a:lnTo>
                  <a:lnTo>
                    <a:pt x="547311" y="546466"/>
                  </a:lnTo>
                  <a:lnTo>
                    <a:pt x="468432" y="742537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851FD967-22BC-4DC2-A150-B362FD98E63C}"/>
                </a:ext>
              </a:extLst>
            </p:cNvPr>
            <p:cNvSpPr/>
            <p:nvPr/>
          </p:nvSpPr>
          <p:spPr>
            <a:xfrm>
              <a:off x="5669669" y="4551395"/>
              <a:ext cx="309882" cy="338053"/>
            </a:xfrm>
            <a:custGeom>
              <a:avLst/>
              <a:gdLst>
                <a:gd name="connsiteX0" fmla="*/ 179678 w 309882"/>
                <a:gd name="connsiteY0" fmla="*/ 292362 h 338053"/>
                <a:gd name="connsiteX1" fmla="*/ 62486 w 309882"/>
                <a:gd name="connsiteY1" fmla="*/ 62486 h 338053"/>
                <a:gd name="connsiteX2" fmla="*/ 271798 w 309882"/>
                <a:gd name="connsiteY2" fmla="*/ 62486 h 338053"/>
                <a:gd name="connsiteX3" fmla="*/ 179678 w 309882"/>
                <a:gd name="connsiteY3" fmla="*/ 292362 h 33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882" h="338053">
                  <a:moveTo>
                    <a:pt x="179678" y="292362"/>
                  </a:moveTo>
                  <a:lnTo>
                    <a:pt x="62486" y="62486"/>
                  </a:lnTo>
                  <a:lnTo>
                    <a:pt x="271798" y="62486"/>
                  </a:lnTo>
                  <a:lnTo>
                    <a:pt x="179678" y="292362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CD104475-3B45-401E-A96B-3A37FC0893BD}"/>
                </a:ext>
              </a:extLst>
            </p:cNvPr>
            <p:cNvSpPr/>
            <p:nvPr/>
          </p:nvSpPr>
          <p:spPr>
            <a:xfrm>
              <a:off x="6596218" y="4551395"/>
              <a:ext cx="197198" cy="253540"/>
            </a:xfrm>
            <a:custGeom>
              <a:avLst/>
              <a:gdLst>
                <a:gd name="connsiteX0" fmla="*/ 89249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580 h 253540"/>
                <a:gd name="connsiteX3" fmla="*/ 62486 w 197197"/>
                <a:gd name="connsiteY3" fmla="*/ 128688 h 253540"/>
                <a:gd name="connsiteX4" fmla="*/ 89249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9" y="62486"/>
                  </a:moveTo>
                  <a:lnTo>
                    <a:pt x="152070" y="62486"/>
                  </a:lnTo>
                  <a:lnTo>
                    <a:pt x="98263" y="196580"/>
                  </a:lnTo>
                  <a:lnTo>
                    <a:pt x="62486" y="128688"/>
                  </a:lnTo>
                  <a:lnTo>
                    <a:pt x="89249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FA717312-A3F6-47E7-B994-386905235749}"/>
                </a:ext>
              </a:extLst>
            </p:cNvPr>
            <p:cNvSpPr/>
            <p:nvPr/>
          </p:nvSpPr>
          <p:spPr>
            <a:xfrm>
              <a:off x="6523255" y="4733099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1788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1788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37DD166D-4CDB-42A1-8FD5-91E7D7E2B447}"/>
                </a:ext>
              </a:extLst>
            </p:cNvPr>
            <p:cNvSpPr/>
            <p:nvPr/>
          </p:nvSpPr>
          <p:spPr>
            <a:xfrm>
              <a:off x="6450010" y="4915085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8263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45E1C33A-5E76-4ABE-913F-AC037ECBE7C0}"/>
                </a:ext>
              </a:extLst>
            </p:cNvPr>
            <p:cNvSpPr/>
            <p:nvPr/>
          </p:nvSpPr>
          <p:spPr>
            <a:xfrm>
              <a:off x="6377047" y="5097070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2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2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51F33B92-579F-41FB-97BD-09FCF9AD7E80}"/>
                </a:ext>
              </a:extLst>
            </p:cNvPr>
            <p:cNvSpPr/>
            <p:nvPr/>
          </p:nvSpPr>
          <p:spPr>
            <a:xfrm>
              <a:off x="6454236" y="4551395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1 w 197197"/>
                <a:gd name="connsiteY2" fmla="*/ 196580 h 253540"/>
                <a:gd name="connsiteX3" fmla="*/ 62486 w 197197"/>
                <a:gd name="connsiteY3" fmla="*/ 128688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1" y="196580"/>
                  </a:lnTo>
                  <a:lnTo>
                    <a:pt x="62486" y="128688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E902A52E-27A8-4C92-8B45-2083D741C89C}"/>
                </a:ext>
              </a:extLst>
            </p:cNvPr>
            <p:cNvSpPr/>
            <p:nvPr/>
          </p:nvSpPr>
          <p:spPr>
            <a:xfrm>
              <a:off x="6381273" y="4733099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1788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1788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3B299BED-47AF-4183-8FBD-51DC3DA0CABE}"/>
                </a:ext>
              </a:extLst>
            </p:cNvPr>
            <p:cNvSpPr/>
            <p:nvPr/>
          </p:nvSpPr>
          <p:spPr>
            <a:xfrm>
              <a:off x="6308027" y="4915085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98B7A91F-A021-45A9-8D42-9CD2F015E212}"/>
                </a:ext>
              </a:extLst>
            </p:cNvPr>
            <p:cNvSpPr/>
            <p:nvPr/>
          </p:nvSpPr>
          <p:spPr>
            <a:xfrm>
              <a:off x="6235064" y="5097070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1788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1788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CD37B381-A4DC-40D7-A244-286A7A82C858}"/>
                </a:ext>
              </a:extLst>
            </p:cNvPr>
            <p:cNvSpPr/>
            <p:nvPr/>
          </p:nvSpPr>
          <p:spPr>
            <a:xfrm>
              <a:off x="6312253" y="4551395"/>
              <a:ext cx="197198" cy="253540"/>
            </a:xfrm>
            <a:custGeom>
              <a:avLst/>
              <a:gdLst>
                <a:gd name="connsiteX0" fmla="*/ 89249 w 197197"/>
                <a:gd name="connsiteY0" fmla="*/ 62486 h 253540"/>
                <a:gd name="connsiteX1" fmla="*/ 152070 w 197197"/>
                <a:gd name="connsiteY1" fmla="*/ 62486 h 253540"/>
                <a:gd name="connsiteX2" fmla="*/ 97982 w 197197"/>
                <a:gd name="connsiteY2" fmla="*/ 196580 h 253540"/>
                <a:gd name="connsiteX3" fmla="*/ 62486 w 197197"/>
                <a:gd name="connsiteY3" fmla="*/ 128688 h 253540"/>
                <a:gd name="connsiteX4" fmla="*/ 89249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9" y="62486"/>
                  </a:moveTo>
                  <a:lnTo>
                    <a:pt x="152070" y="62486"/>
                  </a:lnTo>
                  <a:lnTo>
                    <a:pt x="97982" y="196580"/>
                  </a:lnTo>
                  <a:lnTo>
                    <a:pt x="62486" y="128688"/>
                  </a:lnTo>
                  <a:lnTo>
                    <a:pt x="89249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53">
              <a:extLst>
                <a:ext uri="{FF2B5EF4-FFF2-40B4-BE49-F238E27FC236}">
                  <a16:creationId xmlns:a16="http://schemas.microsoft.com/office/drawing/2014/main" id="{A97587EB-86AB-4FC4-AF06-308561D97CB8}"/>
                </a:ext>
              </a:extLst>
            </p:cNvPr>
            <p:cNvSpPr/>
            <p:nvPr/>
          </p:nvSpPr>
          <p:spPr>
            <a:xfrm>
              <a:off x="6239008" y="4733099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8263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226B8B25-C94D-480C-8139-F389F9FA058C}"/>
                </a:ext>
              </a:extLst>
            </p:cNvPr>
            <p:cNvSpPr/>
            <p:nvPr/>
          </p:nvSpPr>
          <p:spPr>
            <a:xfrm>
              <a:off x="6166045" y="4915085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94BD0E2B-44CC-4C8D-965F-2B85D195E2FA}"/>
                </a:ext>
              </a:extLst>
            </p:cNvPr>
            <p:cNvSpPr/>
            <p:nvPr/>
          </p:nvSpPr>
          <p:spPr>
            <a:xfrm>
              <a:off x="6092800" y="5097070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8263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F1418D28-C3C0-45C6-8806-93C89D10FC34}"/>
                </a:ext>
              </a:extLst>
            </p:cNvPr>
            <p:cNvSpPr/>
            <p:nvPr/>
          </p:nvSpPr>
          <p:spPr>
            <a:xfrm>
              <a:off x="6170271" y="4551395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1788 w 197197"/>
                <a:gd name="connsiteY1" fmla="*/ 62486 h 253540"/>
                <a:gd name="connsiteX2" fmla="*/ 97981 w 197197"/>
                <a:gd name="connsiteY2" fmla="*/ 196580 h 253540"/>
                <a:gd name="connsiteX3" fmla="*/ 62486 w 197197"/>
                <a:gd name="connsiteY3" fmla="*/ 128688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1788" y="62486"/>
                  </a:lnTo>
                  <a:lnTo>
                    <a:pt x="97981" y="196580"/>
                  </a:lnTo>
                  <a:lnTo>
                    <a:pt x="62486" y="128688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FB408151-7637-4572-9B74-45E8B4CB4A31}"/>
                </a:ext>
              </a:extLst>
            </p:cNvPr>
            <p:cNvSpPr/>
            <p:nvPr/>
          </p:nvSpPr>
          <p:spPr>
            <a:xfrm>
              <a:off x="6097026" y="4733099"/>
              <a:ext cx="197198" cy="253540"/>
            </a:xfrm>
            <a:custGeom>
              <a:avLst/>
              <a:gdLst>
                <a:gd name="connsiteX0" fmla="*/ 89249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862 h 253540"/>
                <a:gd name="connsiteX3" fmla="*/ 62486 w 197197"/>
                <a:gd name="connsiteY3" fmla="*/ 128970 h 253540"/>
                <a:gd name="connsiteX4" fmla="*/ 89249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9" y="62486"/>
                  </a:moveTo>
                  <a:lnTo>
                    <a:pt x="152070" y="62486"/>
                  </a:lnTo>
                  <a:lnTo>
                    <a:pt x="98263" y="196862"/>
                  </a:lnTo>
                  <a:lnTo>
                    <a:pt x="62486" y="128970"/>
                  </a:lnTo>
                  <a:lnTo>
                    <a:pt x="89249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462B068B-8EDB-480B-9C0A-B5899368B931}"/>
                </a:ext>
              </a:extLst>
            </p:cNvPr>
            <p:cNvSpPr/>
            <p:nvPr/>
          </p:nvSpPr>
          <p:spPr>
            <a:xfrm>
              <a:off x="6024062" y="4915085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2070 w 197197"/>
                <a:gd name="connsiteY1" fmla="*/ 62486 h 253540"/>
                <a:gd name="connsiteX2" fmla="*/ 97982 w 197197"/>
                <a:gd name="connsiteY2" fmla="*/ 196862 h 253540"/>
                <a:gd name="connsiteX3" fmla="*/ 62486 w 197197"/>
                <a:gd name="connsiteY3" fmla="*/ 128970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2070" y="62486"/>
                  </a:lnTo>
                  <a:lnTo>
                    <a:pt x="97982" y="196862"/>
                  </a:lnTo>
                  <a:lnTo>
                    <a:pt x="62486" y="128970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1269A203-59EE-41D4-B68B-AA1E069B3F06}"/>
                </a:ext>
              </a:extLst>
            </p:cNvPr>
            <p:cNvSpPr/>
            <p:nvPr/>
          </p:nvSpPr>
          <p:spPr>
            <a:xfrm>
              <a:off x="5950818" y="5097070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8263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3436E954-38E0-4C43-966B-FE450D480AA8}"/>
                </a:ext>
              </a:extLst>
            </p:cNvPr>
            <p:cNvSpPr/>
            <p:nvPr/>
          </p:nvSpPr>
          <p:spPr>
            <a:xfrm>
              <a:off x="6028006" y="4551395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8263 w 197197"/>
                <a:gd name="connsiteY2" fmla="*/ 196580 h 253540"/>
                <a:gd name="connsiteX3" fmla="*/ 62486 w 197197"/>
                <a:gd name="connsiteY3" fmla="*/ 128688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8263" y="196580"/>
                  </a:lnTo>
                  <a:lnTo>
                    <a:pt x="62486" y="128688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D7D31330-D580-4EFF-ACF1-94A0884D1120}"/>
                </a:ext>
              </a:extLst>
            </p:cNvPr>
            <p:cNvSpPr/>
            <p:nvPr/>
          </p:nvSpPr>
          <p:spPr>
            <a:xfrm>
              <a:off x="5955043" y="4733099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DAB1F967-3694-4546-B206-B3DB6FCEF639}"/>
                </a:ext>
              </a:extLst>
            </p:cNvPr>
            <p:cNvSpPr/>
            <p:nvPr/>
          </p:nvSpPr>
          <p:spPr>
            <a:xfrm>
              <a:off x="5882080" y="4915085"/>
              <a:ext cx="197198" cy="253540"/>
            </a:xfrm>
            <a:custGeom>
              <a:avLst/>
              <a:gdLst>
                <a:gd name="connsiteX0" fmla="*/ 88967 w 197197"/>
                <a:gd name="connsiteY0" fmla="*/ 62486 h 253540"/>
                <a:gd name="connsiteX1" fmla="*/ 151788 w 197197"/>
                <a:gd name="connsiteY1" fmla="*/ 62486 h 253540"/>
                <a:gd name="connsiteX2" fmla="*/ 97981 w 197197"/>
                <a:gd name="connsiteY2" fmla="*/ 196862 h 253540"/>
                <a:gd name="connsiteX3" fmla="*/ 62486 w 197197"/>
                <a:gd name="connsiteY3" fmla="*/ 128970 h 253540"/>
                <a:gd name="connsiteX4" fmla="*/ 88967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8967" y="62486"/>
                  </a:moveTo>
                  <a:lnTo>
                    <a:pt x="151788" y="62486"/>
                  </a:lnTo>
                  <a:lnTo>
                    <a:pt x="97981" y="196862"/>
                  </a:lnTo>
                  <a:lnTo>
                    <a:pt x="62486" y="128970"/>
                  </a:lnTo>
                  <a:lnTo>
                    <a:pt x="88967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7C7E8AD3-D2C3-486F-91D3-B6FC903326AC}"/>
                </a:ext>
              </a:extLst>
            </p:cNvPr>
            <p:cNvSpPr/>
            <p:nvPr/>
          </p:nvSpPr>
          <p:spPr>
            <a:xfrm>
              <a:off x="5808835" y="5097070"/>
              <a:ext cx="197198" cy="253540"/>
            </a:xfrm>
            <a:custGeom>
              <a:avLst/>
              <a:gdLst>
                <a:gd name="connsiteX0" fmla="*/ 89248 w 197197"/>
                <a:gd name="connsiteY0" fmla="*/ 62486 h 253540"/>
                <a:gd name="connsiteX1" fmla="*/ 152070 w 197197"/>
                <a:gd name="connsiteY1" fmla="*/ 62486 h 253540"/>
                <a:gd name="connsiteX2" fmla="*/ 97982 w 197197"/>
                <a:gd name="connsiteY2" fmla="*/ 196862 h 253540"/>
                <a:gd name="connsiteX3" fmla="*/ 62486 w 197197"/>
                <a:gd name="connsiteY3" fmla="*/ 128970 h 253540"/>
                <a:gd name="connsiteX4" fmla="*/ 89248 w 197197"/>
                <a:gd name="connsiteY4" fmla="*/ 62486 h 2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7" h="253540">
                  <a:moveTo>
                    <a:pt x="89248" y="62486"/>
                  </a:moveTo>
                  <a:lnTo>
                    <a:pt x="152070" y="62486"/>
                  </a:lnTo>
                  <a:lnTo>
                    <a:pt x="97982" y="196862"/>
                  </a:lnTo>
                  <a:lnTo>
                    <a:pt x="62486" y="128970"/>
                  </a:lnTo>
                  <a:lnTo>
                    <a:pt x="89248" y="6248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165">
              <a:extLst>
                <a:ext uri="{FF2B5EF4-FFF2-40B4-BE49-F238E27FC236}">
                  <a16:creationId xmlns:a16="http://schemas.microsoft.com/office/drawing/2014/main" id="{65244DEA-C6C7-42F3-9E21-F1310BF79B27}"/>
                </a:ext>
              </a:extLst>
            </p:cNvPr>
            <p:cNvSpPr/>
            <p:nvPr/>
          </p:nvSpPr>
          <p:spPr>
            <a:xfrm>
              <a:off x="6846941" y="4551395"/>
              <a:ext cx="535252" cy="788791"/>
            </a:xfrm>
            <a:custGeom>
              <a:avLst/>
              <a:gdLst>
                <a:gd name="connsiteX0" fmla="*/ 207004 w 535251"/>
                <a:gd name="connsiteY0" fmla="*/ 742537 h 788791"/>
                <a:gd name="connsiteX1" fmla="*/ 62486 w 535251"/>
                <a:gd name="connsiteY1" fmla="*/ 742537 h 788791"/>
                <a:gd name="connsiteX2" fmla="*/ 335746 w 535251"/>
                <a:gd name="connsiteY2" fmla="*/ 62486 h 788791"/>
                <a:gd name="connsiteX3" fmla="*/ 479982 w 535251"/>
                <a:gd name="connsiteY3" fmla="*/ 62486 h 788791"/>
                <a:gd name="connsiteX4" fmla="*/ 207004 w 535251"/>
                <a:gd name="connsiteY4" fmla="*/ 742537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1" h="788791">
                  <a:moveTo>
                    <a:pt x="207004" y="742537"/>
                  </a:moveTo>
                  <a:lnTo>
                    <a:pt x="62486" y="742537"/>
                  </a:lnTo>
                  <a:lnTo>
                    <a:pt x="335746" y="62486"/>
                  </a:lnTo>
                  <a:lnTo>
                    <a:pt x="479982" y="62486"/>
                  </a:lnTo>
                  <a:lnTo>
                    <a:pt x="207004" y="742537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166">
              <a:extLst>
                <a:ext uri="{FF2B5EF4-FFF2-40B4-BE49-F238E27FC236}">
                  <a16:creationId xmlns:a16="http://schemas.microsoft.com/office/drawing/2014/main" id="{1D42D076-171D-4414-A478-5CE7CB89A7EB}"/>
                </a:ext>
              </a:extLst>
            </p:cNvPr>
            <p:cNvSpPr/>
            <p:nvPr/>
          </p:nvSpPr>
          <p:spPr>
            <a:xfrm>
              <a:off x="6584105" y="4551395"/>
              <a:ext cx="535252" cy="788791"/>
            </a:xfrm>
            <a:custGeom>
              <a:avLst/>
              <a:gdLst>
                <a:gd name="connsiteX0" fmla="*/ 207004 w 535251"/>
                <a:gd name="connsiteY0" fmla="*/ 742537 h 788791"/>
                <a:gd name="connsiteX1" fmla="*/ 62486 w 535251"/>
                <a:gd name="connsiteY1" fmla="*/ 742537 h 788791"/>
                <a:gd name="connsiteX2" fmla="*/ 335746 w 535251"/>
                <a:gd name="connsiteY2" fmla="*/ 62486 h 788791"/>
                <a:gd name="connsiteX3" fmla="*/ 479982 w 535251"/>
                <a:gd name="connsiteY3" fmla="*/ 62486 h 788791"/>
                <a:gd name="connsiteX4" fmla="*/ 207004 w 535251"/>
                <a:gd name="connsiteY4" fmla="*/ 742537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251" h="788791">
                  <a:moveTo>
                    <a:pt x="207004" y="742537"/>
                  </a:moveTo>
                  <a:lnTo>
                    <a:pt x="62486" y="742537"/>
                  </a:lnTo>
                  <a:lnTo>
                    <a:pt x="335746" y="62486"/>
                  </a:lnTo>
                  <a:lnTo>
                    <a:pt x="479982" y="62486"/>
                  </a:lnTo>
                  <a:lnTo>
                    <a:pt x="207004" y="742537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167">
              <a:extLst>
                <a:ext uri="{FF2B5EF4-FFF2-40B4-BE49-F238E27FC236}">
                  <a16:creationId xmlns:a16="http://schemas.microsoft.com/office/drawing/2014/main" id="{8E08544D-39E6-4229-808B-6946E6F5612F}"/>
                </a:ext>
              </a:extLst>
            </p:cNvPr>
            <p:cNvSpPr/>
            <p:nvPr/>
          </p:nvSpPr>
          <p:spPr>
            <a:xfrm>
              <a:off x="8110416" y="4551395"/>
              <a:ext cx="309882" cy="422567"/>
            </a:xfrm>
            <a:custGeom>
              <a:avLst/>
              <a:gdLst>
                <a:gd name="connsiteX0" fmla="*/ 144464 w 309882"/>
                <a:gd name="connsiteY0" fmla="*/ 381665 h 422566"/>
                <a:gd name="connsiteX1" fmla="*/ 62486 w 309882"/>
                <a:gd name="connsiteY1" fmla="*/ 225597 h 422566"/>
                <a:gd name="connsiteX2" fmla="*/ 128125 w 309882"/>
                <a:gd name="connsiteY2" fmla="*/ 62486 h 422566"/>
                <a:gd name="connsiteX3" fmla="*/ 272643 w 309882"/>
                <a:gd name="connsiteY3" fmla="*/ 62486 h 422566"/>
                <a:gd name="connsiteX4" fmla="*/ 144464 w 309882"/>
                <a:gd name="connsiteY4" fmla="*/ 381665 h 42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882" h="422566">
                  <a:moveTo>
                    <a:pt x="144464" y="381665"/>
                  </a:moveTo>
                  <a:lnTo>
                    <a:pt x="62486" y="225597"/>
                  </a:lnTo>
                  <a:lnTo>
                    <a:pt x="128125" y="62486"/>
                  </a:lnTo>
                  <a:lnTo>
                    <a:pt x="272643" y="62486"/>
                  </a:lnTo>
                  <a:lnTo>
                    <a:pt x="144464" y="381665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168">
              <a:extLst>
                <a:ext uri="{FF2B5EF4-FFF2-40B4-BE49-F238E27FC236}">
                  <a16:creationId xmlns:a16="http://schemas.microsoft.com/office/drawing/2014/main" id="{41EA57E7-D7E7-446D-9D72-4424B820DF13}"/>
                </a:ext>
              </a:extLst>
            </p:cNvPr>
            <p:cNvSpPr/>
            <p:nvPr/>
          </p:nvSpPr>
          <p:spPr>
            <a:xfrm>
              <a:off x="7328949" y="4551114"/>
              <a:ext cx="394396" cy="394396"/>
            </a:xfrm>
            <a:custGeom>
              <a:avLst/>
              <a:gdLst>
                <a:gd name="connsiteX0" fmla="*/ 358846 w 394395"/>
                <a:gd name="connsiteY0" fmla="*/ 210666 h 394395"/>
                <a:gd name="connsiteX1" fmla="*/ 210666 w 394395"/>
                <a:gd name="connsiteY1" fmla="*/ 358846 h 394395"/>
                <a:gd name="connsiteX2" fmla="*/ 62486 w 394395"/>
                <a:gd name="connsiteY2" fmla="*/ 210666 h 394395"/>
                <a:gd name="connsiteX3" fmla="*/ 210666 w 394395"/>
                <a:gd name="connsiteY3" fmla="*/ 62486 h 394395"/>
                <a:gd name="connsiteX4" fmla="*/ 358846 w 394395"/>
                <a:gd name="connsiteY4" fmla="*/ 210666 h 39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395" h="394395">
                  <a:moveTo>
                    <a:pt x="358846" y="210666"/>
                  </a:moveTo>
                  <a:cubicBezTo>
                    <a:pt x="358846" y="292504"/>
                    <a:pt x="292504" y="358846"/>
                    <a:pt x="210666" y="358846"/>
                  </a:cubicBezTo>
                  <a:cubicBezTo>
                    <a:pt x="128829" y="358846"/>
                    <a:pt x="62486" y="292504"/>
                    <a:pt x="62486" y="210666"/>
                  </a:cubicBezTo>
                  <a:cubicBezTo>
                    <a:pt x="62486" y="128828"/>
                    <a:pt x="128829" y="62486"/>
                    <a:pt x="210666" y="62486"/>
                  </a:cubicBezTo>
                  <a:cubicBezTo>
                    <a:pt x="292504" y="62486"/>
                    <a:pt x="358846" y="128828"/>
                    <a:pt x="358846" y="210666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169">
              <a:extLst>
                <a:ext uri="{FF2B5EF4-FFF2-40B4-BE49-F238E27FC236}">
                  <a16:creationId xmlns:a16="http://schemas.microsoft.com/office/drawing/2014/main" id="{F31F7A76-30DE-45A8-AC11-1C5BD4B0407B}"/>
                </a:ext>
              </a:extLst>
            </p:cNvPr>
            <p:cNvSpPr/>
            <p:nvPr/>
          </p:nvSpPr>
          <p:spPr>
            <a:xfrm>
              <a:off x="7714330" y="4551114"/>
              <a:ext cx="394396" cy="394396"/>
            </a:xfrm>
            <a:custGeom>
              <a:avLst/>
              <a:gdLst>
                <a:gd name="connsiteX0" fmla="*/ 358846 w 394395"/>
                <a:gd name="connsiteY0" fmla="*/ 210666 h 394395"/>
                <a:gd name="connsiteX1" fmla="*/ 210666 w 394395"/>
                <a:gd name="connsiteY1" fmla="*/ 358846 h 394395"/>
                <a:gd name="connsiteX2" fmla="*/ 62486 w 394395"/>
                <a:gd name="connsiteY2" fmla="*/ 210666 h 394395"/>
                <a:gd name="connsiteX3" fmla="*/ 210666 w 394395"/>
                <a:gd name="connsiteY3" fmla="*/ 62486 h 394395"/>
                <a:gd name="connsiteX4" fmla="*/ 358846 w 394395"/>
                <a:gd name="connsiteY4" fmla="*/ 210666 h 39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395" h="394395">
                  <a:moveTo>
                    <a:pt x="358846" y="210666"/>
                  </a:moveTo>
                  <a:cubicBezTo>
                    <a:pt x="358846" y="292504"/>
                    <a:pt x="292504" y="358846"/>
                    <a:pt x="210666" y="358846"/>
                  </a:cubicBezTo>
                  <a:cubicBezTo>
                    <a:pt x="128829" y="358846"/>
                    <a:pt x="62486" y="292504"/>
                    <a:pt x="62486" y="210666"/>
                  </a:cubicBezTo>
                  <a:cubicBezTo>
                    <a:pt x="62486" y="128828"/>
                    <a:pt x="128829" y="62486"/>
                    <a:pt x="210666" y="62486"/>
                  </a:cubicBezTo>
                  <a:cubicBezTo>
                    <a:pt x="292504" y="62486"/>
                    <a:pt x="358846" y="128828"/>
                    <a:pt x="358846" y="210666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70">
              <a:extLst>
                <a:ext uri="{FF2B5EF4-FFF2-40B4-BE49-F238E27FC236}">
                  <a16:creationId xmlns:a16="http://schemas.microsoft.com/office/drawing/2014/main" id="{6E12073F-24D7-47BD-825A-01A2C3C20E0E}"/>
                </a:ext>
              </a:extLst>
            </p:cNvPr>
            <p:cNvSpPr/>
            <p:nvPr/>
          </p:nvSpPr>
          <p:spPr>
            <a:xfrm>
              <a:off x="7295179" y="4900802"/>
              <a:ext cx="478909" cy="478909"/>
            </a:xfrm>
            <a:custGeom>
              <a:avLst/>
              <a:gdLst>
                <a:gd name="connsiteX0" fmla="*/ 271324 w 478909"/>
                <a:gd name="connsiteY0" fmla="*/ 99078 h 478909"/>
                <a:gd name="connsiteX1" fmla="*/ 390681 w 478909"/>
                <a:gd name="connsiteY1" fmla="*/ 271323 h 478909"/>
                <a:gd name="connsiteX2" fmla="*/ 218436 w 478909"/>
                <a:gd name="connsiteY2" fmla="*/ 390681 h 478909"/>
                <a:gd name="connsiteX3" fmla="*/ 99078 w 478909"/>
                <a:gd name="connsiteY3" fmla="*/ 218435 h 478909"/>
                <a:gd name="connsiteX4" fmla="*/ 271324 w 478909"/>
                <a:gd name="connsiteY4" fmla="*/ 99078 h 47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909" h="478909">
                  <a:moveTo>
                    <a:pt x="271324" y="99078"/>
                  </a:moveTo>
                  <a:cubicBezTo>
                    <a:pt x="351847" y="113683"/>
                    <a:pt x="405286" y="190800"/>
                    <a:pt x="390681" y="271323"/>
                  </a:cubicBezTo>
                  <a:cubicBezTo>
                    <a:pt x="376076" y="351847"/>
                    <a:pt x="298959" y="405285"/>
                    <a:pt x="218436" y="390681"/>
                  </a:cubicBezTo>
                  <a:cubicBezTo>
                    <a:pt x="137912" y="376076"/>
                    <a:pt x="84474" y="298959"/>
                    <a:pt x="99078" y="218435"/>
                  </a:cubicBezTo>
                  <a:cubicBezTo>
                    <a:pt x="113683" y="137912"/>
                    <a:pt x="190800" y="84474"/>
                    <a:pt x="271324" y="99078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71">
              <a:extLst>
                <a:ext uri="{FF2B5EF4-FFF2-40B4-BE49-F238E27FC236}">
                  <a16:creationId xmlns:a16="http://schemas.microsoft.com/office/drawing/2014/main" id="{B7A6A5EC-A40A-4025-903D-70C2307887C2}"/>
                </a:ext>
              </a:extLst>
            </p:cNvPr>
            <p:cNvSpPr/>
            <p:nvPr/>
          </p:nvSpPr>
          <p:spPr>
            <a:xfrm>
              <a:off x="7683892" y="4903984"/>
              <a:ext cx="478909" cy="478909"/>
            </a:xfrm>
            <a:custGeom>
              <a:avLst/>
              <a:gdLst>
                <a:gd name="connsiteX0" fmla="*/ 265441 w 478909"/>
                <a:gd name="connsiteY0" fmla="*/ 95433 h 478909"/>
                <a:gd name="connsiteX1" fmla="*/ 387964 w 478909"/>
                <a:gd name="connsiteY1" fmla="*/ 265441 h 478909"/>
                <a:gd name="connsiteX2" fmla="*/ 217956 w 478909"/>
                <a:gd name="connsiteY2" fmla="*/ 387965 h 478909"/>
                <a:gd name="connsiteX3" fmla="*/ 95433 w 478909"/>
                <a:gd name="connsiteY3" fmla="*/ 217957 h 478909"/>
                <a:gd name="connsiteX4" fmla="*/ 265441 w 478909"/>
                <a:gd name="connsiteY4" fmla="*/ 95433 h 47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909" h="478909">
                  <a:moveTo>
                    <a:pt x="265441" y="95433"/>
                  </a:moveTo>
                  <a:cubicBezTo>
                    <a:pt x="346221" y="108546"/>
                    <a:pt x="401077" y="184661"/>
                    <a:pt x="387964" y="265441"/>
                  </a:cubicBezTo>
                  <a:cubicBezTo>
                    <a:pt x="374851" y="346222"/>
                    <a:pt x="298736" y="401077"/>
                    <a:pt x="217956" y="387965"/>
                  </a:cubicBezTo>
                  <a:cubicBezTo>
                    <a:pt x="137176" y="374852"/>
                    <a:pt x="82320" y="298737"/>
                    <a:pt x="95433" y="217957"/>
                  </a:cubicBezTo>
                  <a:cubicBezTo>
                    <a:pt x="108545" y="137176"/>
                    <a:pt x="184661" y="82321"/>
                    <a:pt x="265441" y="95433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72">
              <a:extLst>
                <a:ext uri="{FF2B5EF4-FFF2-40B4-BE49-F238E27FC236}">
                  <a16:creationId xmlns:a16="http://schemas.microsoft.com/office/drawing/2014/main" id="{2E97F00C-C59F-40AF-9F5A-270D5FE9A3C4}"/>
                </a:ext>
              </a:extLst>
            </p:cNvPr>
            <p:cNvSpPr/>
            <p:nvPr/>
          </p:nvSpPr>
          <p:spPr>
            <a:xfrm>
              <a:off x="9284026" y="4548860"/>
              <a:ext cx="366225" cy="788791"/>
            </a:xfrm>
            <a:custGeom>
              <a:avLst/>
              <a:gdLst>
                <a:gd name="connsiteX0" fmla="*/ 316307 w 366224"/>
                <a:gd name="connsiteY0" fmla="*/ 745636 h 788791"/>
                <a:gd name="connsiteX1" fmla="*/ 62486 w 366224"/>
                <a:gd name="connsiteY1" fmla="*/ 745636 h 788791"/>
                <a:gd name="connsiteX2" fmla="*/ 62486 w 366224"/>
                <a:gd name="connsiteY2" fmla="*/ 62486 h 788791"/>
                <a:gd name="connsiteX3" fmla="*/ 316307 w 366224"/>
                <a:gd name="connsiteY3" fmla="*/ 62486 h 788791"/>
                <a:gd name="connsiteX4" fmla="*/ 316307 w 366224"/>
                <a:gd name="connsiteY4" fmla="*/ 196862 h 788791"/>
                <a:gd name="connsiteX5" fmla="*/ 196862 w 366224"/>
                <a:gd name="connsiteY5" fmla="*/ 196862 h 788791"/>
                <a:gd name="connsiteX6" fmla="*/ 196862 w 366224"/>
                <a:gd name="connsiteY6" fmla="*/ 611259 h 788791"/>
                <a:gd name="connsiteX7" fmla="*/ 316307 w 366224"/>
                <a:gd name="connsiteY7" fmla="*/ 611259 h 788791"/>
                <a:gd name="connsiteX8" fmla="*/ 316307 w 366224"/>
                <a:gd name="connsiteY8" fmla="*/ 745636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224" h="788791">
                  <a:moveTo>
                    <a:pt x="316307" y="745636"/>
                  </a:moveTo>
                  <a:lnTo>
                    <a:pt x="62486" y="745636"/>
                  </a:lnTo>
                  <a:lnTo>
                    <a:pt x="62486" y="62486"/>
                  </a:lnTo>
                  <a:lnTo>
                    <a:pt x="316307" y="62486"/>
                  </a:lnTo>
                  <a:lnTo>
                    <a:pt x="316307" y="196862"/>
                  </a:lnTo>
                  <a:lnTo>
                    <a:pt x="196862" y="196862"/>
                  </a:lnTo>
                  <a:lnTo>
                    <a:pt x="196862" y="611259"/>
                  </a:lnTo>
                  <a:lnTo>
                    <a:pt x="316307" y="611259"/>
                  </a:lnTo>
                  <a:lnTo>
                    <a:pt x="316307" y="74563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73">
              <a:extLst>
                <a:ext uri="{FF2B5EF4-FFF2-40B4-BE49-F238E27FC236}">
                  <a16:creationId xmlns:a16="http://schemas.microsoft.com/office/drawing/2014/main" id="{D16D736A-F4BE-4263-851C-DAA02A0B2932}"/>
                </a:ext>
              </a:extLst>
            </p:cNvPr>
            <p:cNvSpPr/>
            <p:nvPr/>
          </p:nvSpPr>
          <p:spPr>
            <a:xfrm>
              <a:off x="9714481" y="4548860"/>
              <a:ext cx="366225" cy="788791"/>
            </a:xfrm>
            <a:custGeom>
              <a:avLst/>
              <a:gdLst>
                <a:gd name="connsiteX0" fmla="*/ 316307 w 366224"/>
                <a:gd name="connsiteY0" fmla="*/ 745636 h 788791"/>
                <a:gd name="connsiteX1" fmla="*/ 62486 w 366224"/>
                <a:gd name="connsiteY1" fmla="*/ 745636 h 788791"/>
                <a:gd name="connsiteX2" fmla="*/ 62486 w 366224"/>
                <a:gd name="connsiteY2" fmla="*/ 611259 h 788791"/>
                <a:gd name="connsiteX3" fmla="*/ 181931 w 366224"/>
                <a:gd name="connsiteY3" fmla="*/ 611259 h 788791"/>
                <a:gd name="connsiteX4" fmla="*/ 181931 w 366224"/>
                <a:gd name="connsiteY4" fmla="*/ 196862 h 788791"/>
                <a:gd name="connsiteX5" fmla="*/ 62486 w 366224"/>
                <a:gd name="connsiteY5" fmla="*/ 196862 h 788791"/>
                <a:gd name="connsiteX6" fmla="*/ 62486 w 366224"/>
                <a:gd name="connsiteY6" fmla="*/ 62486 h 788791"/>
                <a:gd name="connsiteX7" fmla="*/ 316307 w 366224"/>
                <a:gd name="connsiteY7" fmla="*/ 62486 h 788791"/>
                <a:gd name="connsiteX8" fmla="*/ 316307 w 366224"/>
                <a:gd name="connsiteY8" fmla="*/ 745636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224" h="788791">
                  <a:moveTo>
                    <a:pt x="316307" y="745636"/>
                  </a:moveTo>
                  <a:lnTo>
                    <a:pt x="62486" y="745636"/>
                  </a:lnTo>
                  <a:lnTo>
                    <a:pt x="62486" y="611259"/>
                  </a:lnTo>
                  <a:lnTo>
                    <a:pt x="181931" y="611259"/>
                  </a:lnTo>
                  <a:lnTo>
                    <a:pt x="181931" y="196862"/>
                  </a:lnTo>
                  <a:lnTo>
                    <a:pt x="62486" y="196862"/>
                  </a:lnTo>
                  <a:lnTo>
                    <a:pt x="62486" y="62486"/>
                  </a:lnTo>
                  <a:lnTo>
                    <a:pt x="316307" y="62486"/>
                  </a:lnTo>
                  <a:lnTo>
                    <a:pt x="316307" y="745636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74">
              <a:extLst>
                <a:ext uri="{FF2B5EF4-FFF2-40B4-BE49-F238E27FC236}">
                  <a16:creationId xmlns:a16="http://schemas.microsoft.com/office/drawing/2014/main" id="{A691FEED-91BD-4ACD-B9D2-0B252E99088F}"/>
                </a:ext>
              </a:extLst>
            </p:cNvPr>
            <p:cNvSpPr/>
            <p:nvPr/>
          </p:nvSpPr>
          <p:spPr>
            <a:xfrm>
              <a:off x="10079861" y="4547733"/>
              <a:ext cx="788792" cy="788791"/>
            </a:xfrm>
            <a:custGeom>
              <a:avLst/>
              <a:gdLst>
                <a:gd name="connsiteX0" fmla="*/ 538015 w 788791"/>
                <a:gd name="connsiteY0" fmla="*/ 719437 h 788791"/>
                <a:gd name="connsiteX1" fmla="*/ 646474 w 788791"/>
                <a:gd name="connsiteY1" fmla="*/ 646474 h 788791"/>
                <a:gd name="connsiteX2" fmla="*/ 719719 w 788791"/>
                <a:gd name="connsiteY2" fmla="*/ 538015 h 788791"/>
                <a:gd name="connsiteX3" fmla="*/ 746482 w 788791"/>
                <a:gd name="connsiteY3" fmla="*/ 405047 h 788791"/>
                <a:gd name="connsiteX4" fmla="*/ 719719 w 788791"/>
                <a:gd name="connsiteY4" fmla="*/ 272079 h 788791"/>
                <a:gd name="connsiteX5" fmla="*/ 646474 w 788791"/>
                <a:gd name="connsiteY5" fmla="*/ 163620 h 788791"/>
                <a:gd name="connsiteX6" fmla="*/ 538015 w 788791"/>
                <a:gd name="connsiteY6" fmla="*/ 90657 h 788791"/>
                <a:gd name="connsiteX7" fmla="*/ 405047 w 788791"/>
                <a:gd name="connsiteY7" fmla="*/ 62486 h 788791"/>
                <a:gd name="connsiteX8" fmla="*/ 272079 w 788791"/>
                <a:gd name="connsiteY8" fmla="*/ 90657 h 788791"/>
                <a:gd name="connsiteX9" fmla="*/ 163620 w 788791"/>
                <a:gd name="connsiteY9" fmla="*/ 163620 h 788791"/>
                <a:gd name="connsiteX10" fmla="*/ 90657 w 788791"/>
                <a:gd name="connsiteY10" fmla="*/ 272079 h 788791"/>
                <a:gd name="connsiteX11" fmla="*/ 62486 w 788791"/>
                <a:gd name="connsiteY11" fmla="*/ 405047 h 788791"/>
                <a:gd name="connsiteX12" fmla="*/ 90657 w 788791"/>
                <a:gd name="connsiteY12" fmla="*/ 538015 h 788791"/>
                <a:gd name="connsiteX13" fmla="*/ 163620 w 788791"/>
                <a:gd name="connsiteY13" fmla="*/ 646474 h 788791"/>
                <a:gd name="connsiteX14" fmla="*/ 272079 w 788791"/>
                <a:gd name="connsiteY14" fmla="*/ 719437 h 788791"/>
                <a:gd name="connsiteX15" fmla="*/ 405047 w 788791"/>
                <a:gd name="connsiteY15" fmla="*/ 747608 h 788791"/>
                <a:gd name="connsiteX16" fmla="*/ 538015 w 788791"/>
                <a:gd name="connsiteY16" fmla="*/ 719437 h 788791"/>
                <a:gd name="connsiteX17" fmla="*/ 612105 w 788791"/>
                <a:gd name="connsiteY17" fmla="*/ 405047 h 788791"/>
                <a:gd name="connsiteX18" fmla="*/ 405047 w 788791"/>
                <a:gd name="connsiteY18" fmla="*/ 612105 h 788791"/>
                <a:gd name="connsiteX19" fmla="*/ 197989 w 788791"/>
                <a:gd name="connsiteY19" fmla="*/ 405047 h 788791"/>
                <a:gd name="connsiteX20" fmla="*/ 405047 w 788791"/>
                <a:gd name="connsiteY20" fmla="*/ 197989 h 788791"/>
                <a:gd name="connsiteX21" fmla="*/ 612105 w 788791"/>
                <a:gd name="connsiteY21" fmla="*/ 405047 h 7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8791" h="788791">
                  <a:moveTo>
                    <a:pt x="538015" y="719437"/>
                  </a:moveTo>
                  <a:cubicBezTo>
                    <a:pt x="578540" y="702346"/>
                    <a:pt x="615371" y="677569"/>
                    <a:pt x="646474" y="646474"/>
                  </a:cubicBezTo>
                  <a:cubicBezTo>
                    <a:pt x="677562" y="615306"/>
                    <a:pt x="702421" y="578496"/>
                    <a:pt x="719719" y="538015"/>
                  </a:cubicBezTo>
                  <a:cubicBezTo>
                    <a:pt x="737457" y="495932"/>
                    <a:pt x="746558" y="450715"/>
                    <a:pt x="746482" y="405047"/>
                  </a:cubicBezTo>
                  <a:cubicBezTo>
                    <a:pt x="746535" y="359381"/>
                    <a:pt x="737435" y="314168"/>
                    <a:pt x="719719" y="272079"/>
                  </a:cubicBezTo>
                  <a:cubicBezTo>
                    <a:pt x="702422" y="231599"/>
                    <a:pt x="677562" y="194788"/>
                    <a:pt x="646474" y="163620"/>
                  </a:cubicBezTo>
                  <a:cubicBezTo>
                    <a:pt x="615371" y="132524"/>
                    <a:pt x="578540" y="107747"/>
                    <a:pt x="538015" y="90657"/>
                  </a:cubicBezTo>
                  <a:cubicBezTo>
                    <a:pt x="496074" y="72309"/>
                    <a:pt x="450826" y="62722"/>
                    <a:pt x="405047" y="62486"/>
                  </a:cubicBezTo>
                  <a:cubicBezTo>
                    <a:pt x="359274" y="62777"/>
                    <a:pt x="314038" y="72361"/>
                    <a:pt x="272079" y="90657"/>
                  </a:cubicBezTo>
                  <a:cubicBezTo>
                    <a:pt x="231592" y="107816"/>
                    <a:pt x="194773" y="132585"/>
                    <a:pt x="163620" y="163620"/>
                  </a:cubicBezTo>
                  <a:cubicBezTo>
                    <a:pt x="132524" y="194723"/>
                    <a:pt x="107747" y="231554"/>
                    <a:pt x="90657" y="272079"/>
                  </a:cubicBezTo>
                  <a:cubicBezTo>
                    <a:pt x="72362" y="314038"/>
                    <a:pt x="62777" y="359274"/>
                    <a:pt x="62486" y="405047"/>
                  </a:cubicBezTo>
                  <a:cubicBezTo>
                    <a:pt x="62722" y="450825"/>
                    <a:pt x="72309" y="496073"/>
                    <a:pt x="90657" y="538015"/>
                  </a:cubicBezTo>
                  <a:cubicBezTo>
                    <a:pt x="107747" y="578539"/>
                    <a:pt x="132524" y="615370"/>
                    <a:pt x="163620" y="646474"/>
                  </a:cubicBezTo>
                  <a:cubicBezTo>
                    <a:pt x="194773" y="677509"/>
                    <a:pt x="231591" y="702278"/>
                    <a:pt x="272079" y="719437"/>
                  </a:cubicBezTo>
                  <a:cubicBezTo>
                    <a:pt x="314038" y="737732"/>
                    <a:pt x="359274" y="747316"/>
                    <a:pt x="405047" y="747608"/>
                  </a:cubicBezTo>
                  <a:cubicBezTo>
                    <a:pt x="450826" y="747371"/>
                    <a:pt x="496074" y="737785"/>
                    <a:pt x="538015" y="719437"/>
                  </a:cubicBezTo>
                  <a:close/>
                  <a:moveTo>
                    <a:pt x="612105" y="405047"/>
                  </a:moveTo>
                  <a:cubicBezTo>
                    <a:pt x="611949" y="519337"/>
                    <a:pt x="519338" y="611950"/>
                    <a:pt x="405047" y="612105"/>
                  </a:cubicBezTo>
                  <a:cubicBezTo>
                    <a:pt x="290757" y="611950"/>
                    <a:pt x="198145" y="519338"/>
                    <a:pt x="197989" y="405047"/>
                  </a:cubicBezTo>
                  <a:cubicBezTo>
                    <a:pt x="198145" y="290756"/>
                    <a:pt x="290757" y="198144"/>
                    <a:pt x="405047" y="197989"/>
                  </a:cubicBezTo>
                  <a:cubicBezTo>
                    <a:pt x="519338" y="198144"/>
                    <a:pt x="611949" y="290756"/>
                    <a:pt x="612105" y="405047"/>
                  </a:cubicBez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75">
              <a:extLst>
                <a:ext uri="{FF2B5EF4-FFF2-40B4-BE49-F238E27FC236}">
                  <a16:creationId xmlns:a16="http://schemas.microsoft.com/office/drawing/2014/main" id="{09071B87-1F17-4B3F-B42E-1B81B8899725}"/>
                </a:ext>
              </a:extLst>
            </p:cNvPr>
            <p:cNvSpPr/>
            <p:nvPr/>
          </p:nvSpPr>
          <p:spPr>
            <a:xfrm>
              <a:off x="10828367" y="4548860"/>
              <a:ext cx="788792" cy="816962"/>
            </a:xfrm>
            <a:custGeom>
              <a:avLst/>
              <a:gdLst>
                <a:gd name="connsiteX0" fmla="*/ 727043 w 788791"/>
                <a:gd name="connsiteY0" fmla="*/ 353775 h 816962"/>
                <a:gd name="connsiteX1" fmla="*/ 381383 w 788791"/>
                <a:gd name="connsiteY1" fmla="*/ 353775 h 816962"/>
                <a:gd name="connsiteX2" fmla="*/ 171790 w 788791"/>
                <a:gd name="connsiteY2" fmla="*/ 62486 h 816962"/>
                <a:gd name="connsiteX3" fmla="*/ 62486 w 788791"/>
                <a:gd name="connsiteY3" fmla="*/ 141083 h 816962"/>
                <a:gd name="connsiteX4" fmla="*/ 264191 w 788791"/>
                <a:gd name="connsiteY4" fmla="*/ 420823 h 816962"/>
                <a:gd name="connsiteX5" fmla="*/ 62486 w 788791"/>
                <a:gd name="connsiteY5" fmla="*/ 700562 h 816962"/>
                <a:gd name="connsiteX6" fmla="*/ 171790 w 788791"/>
                <a:gd name="connsiteY6" fmla="*/ 779159 h 816962"/>
                <a:gd name="connsiteX7" fmla="*/ 381383 w 788791"/>
                <a:gd name="connsiteY7" fmla="*/ 488152 h 816962"/>
                <a:gd name="connsiteX8" fmla="*/ 727043 w 788791"/>
                <a:gd name="connsiteY8" fmla="*/ 488152 h 816962"/>
                <a:gd name="connsiteX9" fmla="*/ 727043 w 788791"/>
                <a:gd name="connsiteY9" fmla="*/ 353775 h 81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8791" h="816962">
                  <a:moveTo>
                    <a:pt x="727043" y="353775"/>
                  </a:moveTo>
                  <a:lnTo>
                    <a:pt x="381383" y="353775"/>
                  </a:lnTo>
                  <a:lnTo>
                    <a:pt x="171790" y="62486"/>
                  </a:lnTo>
                  <a:lnTo>
                    <a:pt x="62486" y="141083"/>
                  </a:lnTo>
                  <a:lnTo>
                    <a:pt x="264191" y="420823"/>
                  </a:lnTo>
                  <a:lnTo>
                    <a:pt x="62486" y="700562"/>
                  </a:lnTo>
                  <a:lnTo>
                    <a:pt x="171790" y="779159"/>
                  </a:lnTo>
                  <a:lnTo>
                    <a:pt x="381383" y="488152"/>
                  </a:lnTo>
                  <a:lnTo>
                    <a:pt x="727043" y="488152"/>
                  </a:lnTo>
                  <a:lnTo>
                    <a:pt x="727043" y="353775"/>
                  </a:lnTo>
                  <a:close/>
                </a:path>
              </a:pathLst>
            </a:custGeom>
            <a:grpFill/>
            <a:ln w="9525" cap="flat">
              <a:solidFill>
                <a:srgbClr val="FFFFFF">
                  <a:alpha val="18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7760A9-2A6B-412A-8EE6-6A87286313E5}"/>
              </a:ext>
            </a:extLst>
          </p:cNvPr>
          <p:cNvSpPr/>
          <p:nvPr/>
        </p:nvSpPr>
        <p:spPr>
          <a:xfrm>
            <a:off x="573265" y="8016812"/>
            <a:ext cx="62581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latin typeface="Mont" panose="00000700000000000000" pitchFamily="50" charset="0"/>
              </a:rPr>
              <a:t>Участвовал в проектах ОАО «РЖД», Министерства транспорта Пермского края, Министерства транспорта и связи Свердловской области, </a:t>
            </a:r>
            <a:r>
              <a:rPr lang="ru-RU" sz="1400" b="1" dirty="0" err="1">
                <a:latin typeface="Mont" panose="00000700000000000000" pitchFamily="50" charset="0"/>
              </a:rPr>
              <a:t>Deloitte</a:t>
            </a:r>
            <a:r>
              <a:rPr lang="ru-RU" sz="1400" b="1" dirty="0">
                <a:latin typeface="Mont" panose="00000700000000000000" pitchFamily="50" charset="0"/>
              </a:rPr>
              <a:t> &amp; </a:t>
            </a:r>
            <a:r>
              <a:rPr lang="ru-RU" sz="1400" b="1" dirty="0" err="1">
                <a:latin typeface="Mont" panose="00000700000000000000" pitchFamily="50" charset="0"/>
              </a:rPr>
              <a:t>Touche</a:t>
            </a:r>
            <a:r>
              <a:rPr lang="ru-RU" sz="1400" b="1" dirty="0">
                <a:latin typeface="Mont" panose="00000700000000000000" pitchFamily="50" charset="0"/>
              </a:rPr>
              <a:t> (</a:t>
            </a:r>
            <a:r>
              <a:rPr lang="ru-RU" sz="1400" b="1" dirty="0" err="1">
                <a:latin typeface="Mont" panose="00000700000000000000" pitchFamily="50" charset="0"/>
              </a:rPr>
              <a:t>Moscow</a:t>
            </a:r>
            <a:r>
              <a:rPr lang="ru-RU" sz="1400" b="1" dirty="0">
                <a:latin typeface="Mont" panose="00000700000000000000" pitchFamily="50" charset="0"/>
              </a:rPr>
              <a:t>), руководил проведением имитационной экспертизы проектных работ институтов: ОАО «</a:t>
            </a:r>
            <a:r>
              <a:rPr lang="ru-RU" sz="1400" b="1" dirty="0" err="1">
                <a:latin typeface="Mont" panose="00000700000000000000" pitchFamily="50" charset="0"/>
              </a:rPr>
              <a:t>Уралгипротранс</a:t>
            </a:r>
            <a:r>
              <a:rPr lang="ru-RU" sz="1400" b="1" dirty="0">
                <a:latin typeface="Mont" panose="00000700000000000000" pitchFamily="50" charset="0"/>
              </a:rPr>
              <a:t>», АО «</a:t>
            </a:r>
            <a:r>
              <a:rPr lang="ru-RU" sz="1400" b="1" dirty="0" err="1">
                <a:latin typeface="Mont" panose="00000700000000000000" pitchFamily="50" charset="0"/>
              </a:rPr>
              <a:t>Росжелдорпрект</a:t>
            </a:r>
            <a:r>
              <a:rPr lang="ru-RU" sz="1400" b="1" dirty="0">
                <a:latin typeface="Mont" panose="00000700000000000000" pitchFamily="50" charset="0"/>
              </a:rPr>
              <a:t>», ОАО «</a:t>
            </a:r>
            <a:r>
              <a:rPr lang="ru-RU" sz="1400" b="1" dirty="0" err="1">
                <a:latin typeface="Mont" panose="00000700000000000000" pitchFamily="50" charset="0"/>
              </a:rPr>
              <a:t>Уралгипроруда</a:t>
            </a:r>
            <a:r>
              <a:rPr lang="ru-RU" sz="1400" b="1" dirty="0">
                <a:latin typeface="Mont" panose="00000700000000000000" pitchFamily="50" charset="0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35691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1175</TotalTime>
  <Words>138</Words>
  <Application>Microsoft Office PowerPoint</Application>
  <PresentationFormat>Произвольный</PresentationFormat>
  <Paragraphs>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</vt:lpstr>
      <vt:lpstr>Mont Bold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Попова</dc:creator>
  <cp:lastModifiedBy>Орлова Мария Владимировна</cp:lastModifiedBy>
  <cp:revision>133</cp:revision>
  <dcterms:created xsi:type="dcterms:W3CDTF">2020-06-02T14:49:36Z</dcterms:created>
  <dcterms:modified xsi:type="dcterms:W3CDTF">2025-10-20T08:41:31Z</dcterms:modified>
</cp:coreProperties>
</file>