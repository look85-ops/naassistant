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8288000" cy="11430000"/>
  <p:notesSz cx="18288000" cy="11430000"/>
  <p:defaultTextStyle>
    <a:defPPr>
      <a:defRPr lang="en-US"/>
    </a:defPPr>
    <a:lvl1pPr marL="0" algn="l" defTabSz="1426464">
      <a:defRPr sz="2800">
        <a:solidFill>
          <a:schemeClr val="tx1"/>
        </a:solidFill>
        <a:latin typeface="+mn-lt"/>
        <a:ea typeface="+mn-ea"/>
        <a:cs typeface="+mn-cs"/>
      </a:defRPr>
    </a:lvl1pPr>
    <a:lvl2pPr marL="713232" algn="l" defTabSz="1426464">
      <a:defRPr sz="2800">
        <a:solidFill>
          <a:schemeClr val="tx1"/>
        </a:solidFill>
        <a:latin typeface="+mn-lt"/>
        <a:ea typeface="+mn-ea"/>
        <a:cs typeface="+mn-cs"/>
      </a:defRPr>
    </a:lvl2pPr>
    <a:lvl3pPr marL="1426464" algn="l" defTabSz="1426464">
      <a:defRPr sz="2800">
        <a:solidFill>
          <a:schemeClr val="tx1"/>
        </a:solidFill>
        <a:latin typeface="+mn-lt"/>
        <a:ea typeface="+mn-ea"/>
        <a:cs typeface="+mn-cs"/>
      </a:defRPr>
    </a:lvl3pPr>
    <a:lvl4pPr marL="2139696" algn="l" defTabSz="1426464">
      <a:defRPr sz="2800">
        <a:solidFill>
          <a:schemeClr val="tx1"/>
        </a:solidFill>
        <a:latin typeface="+mn-lt"/>
        <a:ea typeface="+mn-ea"/>
        <a:cs typeface="+mn-cs"/>
      </a:defRPr>
    </a:lvl4pPr>
    <a:lvl5pPr marL="2852928" algn="l" defTabSz="1426464">
      <a:defRPr sz="2800">
        <a:solidFill>
          <a:schemeClr val="tx1"/>
        </a:solidFill>
        <a:latin typeface="+mn-lt"/>
        <a:ea typeface="+mn-ea"/>
        <a:cs typeface="+mn-cs"/>
      </a:defRPr>
    </a:lvl5pPr>
    <a:lvl6pPr marL="3566160" algn="l" defTabSz="1426464">
      <a:defRPr sz="2800">
        <a:solidFill>
          <a:schemeClr val="tx1"/>
        </a:solidFill>
        <a:latin typeface="+mn-lt"/>
        <a:ea typeface="+mn-ea"/>
        <a:cs typeface="+mn-cs"/>
      </a:defRPr>
    </a:lvl6pPr>
    <a:lvl7pPr marL="4279392" algn="l" defTabSz="1426464">
      <a:defRPr sz="2800">
        <a:solidFill>
          <a:schemeClr val="tx1"/>
        </a:solidFill>
        <a:latin typeface="+mn-lt"/>
        <a:ea typeface="+mn-ea"/>
        <a:cs typeface="+mn-cs"/>
      </a:defRPr>
    </a:lvl7pPr>
    <a:lvl8pPr marL="4992624" algn="l" defTabSz="1426464">
      <a:defRPr sz="2800">
        <a:solidFill>
          <a:schemeClr val="tx1"/>
        </a:solidFill>
        <a:latin typeface="+mn-lt"/>
        <a:ea typeface="+mn-ea"/>
        <a:cs typeface="+mn-cs"/>
      </a:defRPr>
    </a:lvl8pPr>
    <a:lvl9pPr marL="5705856" algn="l" defTabSz="1426464">
      <a:defRPr sz="2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0">
          <p15:clr>
            <a:srgbClr val="A4A3A4"/>
          </p15:clr>
        </p15:guide>
        <p15:guide id="2" orient="horz" pos="36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46" d="100"/>
          <a:sy n="46" d="100"/>
        </p:scale>
        <p:origin x="211" y="62"/>
      </p:cViewPr>
      <p:guideLst>
        <p:guide pos="5760"/>
        <p:guide orient="horz" pos="3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79101" y="877795"/>
            <a:ext cx="8605838" cy="247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spcBef>
                <a:spcPts val="0"/>
              </a:spcBef>
              <a:buNone/>
              <a:defRPr sz="9000" b="1" i="0"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Презентация</a:t>
            </a:r>
            <a:endParaRPr/>
          </a:p>
          <a:p>
            <a:pPr lvl="0">
              <a:defRPr/>
            </a:pPr>
            <a:r>
              <a:rPr lang="ru-RU"/>
              <a:t>проекта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79101" y="3352333"/>
            <a:ext cx="4589462" cy="3949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 b="1" i="0">
                <a:latin typeface="Mont"/>
              </a:defRPr>
            </a:lvl1pPr>
          </a:lstStyle>
          <a:p>
            <a:pPr lvl="0">
              <a:defRPr/>
            </a:pPr>
            <a:r>
              <a:rPr lang="ru-RU"/>
              <a:t>25.05.2018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79101" y="877795"/>
            <a:ext cx="8605838" cy="247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spcBef>
                <a:spcPts val="0"/>
              </a:spcBef>
              <a:buNone/>
              <a:defRPr sz="9000" b="1" i="0">
                <a:solidFill>
                  <a:schemeClr val="bg1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Презен</a:t>
            </a:r>
            <a:r>
              <a:rPr lang="en-GB"/>
              <a:t>та</a:t>
            </a:r>
            <a:r>
              <a:rPr lang="ru-RU"/>
              <a:t>ция</a:t>
            </a:r>
          </a:p>
          <a:p>
            <a:pPr lvl="0">
              <a:defRPr/>
            </a:pPr>
            <a:r>
              <a:rPr lang="ru-RU"/>
              <a:t>проекта</a:t>
            </a:r>
            <a:endParaRPr lang="en-US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79101" y="3352333"/>
            <a:ext cx="4589462" cy="3949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 b="1" i="0">
                <a:solidFill>
                  <a:schemeClr val="bg1"/>
                </a:solidFill>
                <a:latin typeface="Mont"/>
              </a:defRPr>
            </a:lvl1pPr>
          </a:lstStyle>
          <a:p>
            <a:pPr lvl="0">
              <a:defRPr/>
            </a:pPr>
            <a:r>
              <a:rPr lang="ru-RU"/>
              <a:t>25.05.2018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42402" y="986305"/>
            <a:ext cx="8427104" cy="716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1.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42402" y="1882776"/>
            <a:ext cx="11026869" cy="1559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buNone/>
              <a:defRPr sz="90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Об университете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42402" y="986305"/>
            <a:ext cx="8427104" cy="716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1.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42402" y="1882776"/>
            <a:ext cx="11026869" cy="1559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buNone/>
              <a:defRPr sz="90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Об университете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42402" y="986305"/>
            <a:ext cx="8427104" cy="716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1.1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42402" y="1882776"/>
            <a:ext cx="11026869" cy="1559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buNone/>
              <a:defRPr sz="90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Наша миссия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42400" y="3621929"/>
            <a:ext cx="14092799" cy="33449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2800" b="1" i="0">
                <a:latin typeface="Mont Bold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>
              <a:defRPr/>
            </a:pPr>
            <a:r>
              <a:rPr lang="ru-RU"/>
              <a:t>Развивать эффективную систему непрерывного корпоративного образования различных групп работников ОАО «РЖД» и ключевых стейкхолдеров за пределами Компании, формировать на основе ценностно-ориентированного подхода и лучших мировых практик новые знания, компетенции и культуру, необходимые для реализации стратегии холдинга «РЖД» и транспортной отрасли в целом.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770281" y="7214548"/>
            <a:ext cx="12998450" cy="27967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900"/>
              </a:lnSpc>
              <a:spcBef>
                <a:spcPts val="0"/>
              </a:spcBef>
              <a:buSzPct val="80000"/>
              <a:buFontTx/>
              <a:buBlip>
                <a:blip r:embed="rId2"/>
              </a:buBlip>
              <a:defRPr sz="2400" b="1" i="0">
                <a:latin typeface="Mon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>
              <a:defRPr/>
            </a:pPr>
            <a:r>
              <a:rPr lang="ru-RU"/>
              <a:t>Открытость и готовность к изменениям</a:t>
            </a:r>
            <a:endParaRPr/>
          </a:p>
          <a:p>
            <a:pPr lvl="0">
              <a:defRPr/>
            </a:pPr>
            <a:r>
              <a:rPr lang="ru-RU"/>
              <a:t>Нам доверяют обучение профессионалов </a:t>
            </a:r>
            <a:endParaRPr/>
          </a:p>
          <a:p>
            <a:pPr lvl="0">
              <a:defRPr/>
            </a:pPr>
            <a:r>
              <a:rPr lang="ru-RU"/>
              <a:t>Развитие лидеров нового поколения</a:t>
            </a:r>
            <a:endParaRPr/>
          </a:p>
          <a:p>
            <a:pPr lvl="0">
              <a:defRPr/>
            </a:pPr>
            <a:r>
              <a:rPr lang="ru-RU"/>
              <a:t>Использование современных инструментов оценки персонала </a:t>
            </a:r>
            <a:endParaRPr/>
          </a:p>
          <a:p>
            <a:pPr lvl="0">
              <a:defRPr/>
            </a:pPr>
            <a:r>
              <a:rPr lang="ru-RU"/>
              <a:t>Создание эффективного бизнес-пространства</a:t>
            </a:r>
            <a:endParaRPr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2291637" y="1123982"/>
            <a:ext cx="4749800" cy="71755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100" b="1" i="0">
                <a:solidFill>
                  <a:srgbClr val="939598"/>
                </a:solidFill>
                <a:latin typeface="Mont Bold"/>
              </a:defRPr>
            </a:lvl1pPr>
          </a:lstStyle>
          <a:p>
            <a:pPr lvl="0">
              <a:defRPr/>
            </a:pPr>
            <a:r>
              <a:rPr lang="ru-RU"/>
              <a:t>ОБ УНИВЕРСИТЕТЕ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42402" y="986305"/>
            <a:ext cx="8427104" cy="716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1.1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42402" y="1882776"/>
            <a:ext cx="11026869" cy="1559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buNone/>
              <a:defRPr sz="90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Наша миссия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42400" y="3621929"/>
            <a:ext cx="14092799" cy="33449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2800" b="1" i="0">
                <a:latin typeface="Mont Bold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>
              <a:defRPr/>
            </a:pPr>
            <a:r>
              <a:rPr lang="ru-RU"/>
              <a:t>Развивать эффективную систему непрерывного корпоративного образования различных групп работников ОАО «РЖД» и ключевых стейкхолдеров за пределами Компании, формировать на основе ценностно-ориентированного подхода и лучших мировых практик новые знания, компетенции и культуру, необходимые для реализации стратегии холдинга «РЖД» и транспортной отрасли в целом.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770281" y="7214548"/>
            <a:ext cx="12998450" cy="27967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900"/>
              </a:lnSpc>
              <a:spcBef>
                <a:spcPts val="0"/>
              </a:spcBef>
              <a:buSzPct val="80000"/>
              <a:buFontTx/>
              <a:buBlip>
                <a:blip r:embed="rId2"/>
              </a:buBlip>
              <a:defRPr sz="2400" b="1" i="0">
                <a:latin typeface="Mon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>
              <a:defRPr/>
            </a:pPr>
            <a:r>
              <a:rPr lang="ru-RU"/>
              <a:t>Открытость и готовность к изменениям</a:t>
            </a:r>
            <a:endParaRPr/>
          </a:p>
          <a:p>
            <a:pPr lvl="0">
              <a:defRPr/>
            </a:pPr>
            <a:r>
              <a:rPr lang="ru-RU"/>
              <a:t>Нам доверяют обучение профессионалов </a:t>
            </a:r>
            <a:endParaRPr/>
          </a:p>
          <a:p>
            <a:pPr lvl="0">
              <a:defRPr/>
            </a:pPr>
            <a:r>
              <a:rPr lang="ru-RU"/>
              <a:t>Развитие лидеров нового поколения</a:t>
            </a:r>
            <a:endParaRPr/>
          </a:p>
          <a:p>
            <a:pPr lvl="0">
              <a:defRPr/>
            </a:pPr>
            <a:r>
              <a:rPr lang="ru-RU"/>
              <a:t>Использование современных инструментов оценки персонала </a:t>
            </a:r>
            <a:endParaRPr/>
          </a:p>
          <a:p>
            <a:pPr lvl="0">
              <a:defRPr/>
            </a:pPr>
            <a:r>
              <a:rPr lang="ru-RU"/>
              <a:t>Создание эффективного бизнес-пространства</a:t>
            </a:r>
            <a:endParaRPr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2291637" y="1123982"/>
            <a:ext cx="4749800" cy="71755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100" b="1" i="0">
                <a:solidFill>
                  <a:srgbClr val="939598"/>
                </a:solidFill>
                <a:latin typeface="Mont Bold"/>
              </a:defRPr>
            </a:lvl1pPr>
          </a:lstStyle>
          <a:p>
            <a:pPr lvl="0">
              <a:defRPr/>
            </a:pPr>
            <a:r>
              <a:rPr lang="ru-RU"/>
              <a:t>ОБ УНИВЕРСИТЕТЕ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42402" y="986305"/>
            <a:ext cx="8427104" cy="716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1.1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42402" y="1882776"/>
            <a:ext cx="11026869" cy="1559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500"/>
              </a:lnSpc>
              <a:buNone/>
              <a:defRPr sz="9000" b="1" i="0">
                <a:solidFill>
                  <a:srgbClr val="003162"/>
                </a:solidFill>
                <a:latin typeface="Mont Heavy DEMO"/>
              </a:defRPr>
            </a:lvl1pPr>
          </a:lstStyle>
          <a:p>
            <a:pPr lvl="0">
              <a:defRPr/>
            </a:pPr>
            <a:r>
              <a:rPr lang="ru-RU"/>
              <a:t>Наша миссия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42400" y="3621929"/>
            <a:ext cx="14092799" cy="33449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2800" b="1" i="0">
                <a:latin typeface="Mont Bold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>
              <a:defRPr/>
            </a:pPr>
            <a:r>
              <a:rPr lang="ru-RU"/>
              <a:t>Развивать эффективную систему непрерывного корпоративного образования различных групп работников ОАО «РЖД» и ключевых стейкхолдеров за пределами Компании, формировать на основе ценностно-ориентированного подхода и лучших мировых практик новые знания, компетенции и культуру, необходимые для реализации стратегии холдинга «РЖД» и транспортной отрасли в целом.</a:t>
            </a:r>
            <a:endParaRPr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770281" y="7214548"/>
            <a:ext cx="12998450" cy="27967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900"/>
              </a:lnSpc>
              <a:spcBef>
                <a:spcPts val="0"/>
              </a:spcBef>
              <a:buSzPct val="80000"/>
              <a:buFontTx/>
              <a:buBlip>
                <a:blip r:embed="rId3"/>
              </a:buBlip>
              <a:defRPr sz="2400" b="1" i="0">
                <a:latin typeface="Mon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>
              <a:defRPr/>
            </a:pPr>
            <a:r>
              <a:rPr lang="ru-RU"/>
              <a:t>Открытость и готовность к изменениям</a:t>
            </a:r>
            <a:endParaRPr/>
          </a:p>
          <a:p>
            <a:pPr lvl="0">
              <a:defRPr/>
            </a:pPr>
            <a:r>
              <a:rPr lang="ru-RU"/>
              <a:t>Нам доверяют обучение профессионалов </a:t>
            </a:r>
            <a:endParaRPr/>
          </a:p>
          <a:p>
            <a:pPr lvl="0">
              <a:defRPr/>
            </a:pPr>
            <a:r>
              <a:rPr lang="ru-RU"/>
              <a:t>Развитие лидеров нового поколения</a:t>
            </a:r>
            <a:endParaRPr/>
          </a:p>
          <a:p>
            <a:pPr lvl="0">
              <a:defRPr/>
            </a:pPr>
            <a:r>
              <a:rPr lang="ru-RU"/>
              <a:t>Использование современных инструментов оценки персонала </a:t>
            </a:r>
            <a:endParaRPr/>
          </a:p>
          <a:p>
            <a:pPr lvl="0">
              <a:defRPr/>
            </a:pPr>
            <a:r>
              <a:rPr lang="ru-RU"/>
              <a:t>Создание эффективного бизнес-пространства</a:t>
            </a:r>
            <a:endParaRPr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2291637" y="1123982"/>
            <a:ext cx="4749800" cy="71755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100" b="1" i="0">
                <a:solidFill>
                  <a:srgbClr val="939598"/>
                </a:solidFill>
                <a:latin typeface="Mont Bold"/>
              </a:defRPr>
            </a:lvl1pPr>
          </a:lstStyle>
          <a:p>
            <a:pPr lvl="0">
              <a:defRPr/>
            </a:pPr>
            <a:r>
              <a:rPr lang="ru-RU"/>
              <a:t>ОБ УНИВЕРСИТЕТЕ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rcRect t="5712" r="1186"/>
          <a:stretch/>
        </p:blipFill>
        <p:spPr bwMode="auto">
          <a:xfrm>
            <a:off x="0" y="0"/>
            <a:ext cx="18288000" cy="1143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88569" y="9651557"/>
            <a:ext cx="3491478" cy="11863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1371600">
        <a:lnSpc>
          <a:spcPct val="90000"/>
        </a:lnSpc>
        <a:spcBef>
          <a:spcPts val="0"/>
        </a:spcBef>
        <a:buNone/>
        <a:defRPr sz="6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>
        <a:lnSpc>
          <a:spcPct val="90000"/>
        </a:lnSpc>
        <a:spcBef>
          <a:spcPts val="1500"/>
        </a:spcBef>
        <a:buFont typeface="Arial"/>
        <a:buChar char="•"/>
        <a:defRPr sz="4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6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/>
          <a:srcRect t="5956"/>
          <a:stretch/>
        </p:blipFill>
        <p:spPr bwMode="auto">
          <a:xfrm>
            <a:off x="-1" y="0"/>
            <a:ext cx="18555573" cy="1143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58587" y="9651558"/>
            <a:ext cx="3643391" cy="12379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1371600">
        <a:lnSpc>
          <a:spcPct val="90000"/>
        </a:lnSpc>
        <a:spcBef>
          <a:spcPts val="0"/>
        </a:spcBef>
        <a:buNone/>
        <a:defRPr sz="6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>
        <a:lnSpc>
          <a:spcPct val="90000"/>
        </a:lnSpc>
        <a:spcBef>
          <a:spcPts val="1500"/>
        </a:spcBef>
        <a:buFont typeface="Arial"/>
        <a:buChar char="•"/>
        <a:defRPr sz="4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rcRect l="54661" t="5712" r="1186"/>
          <a:stretch/>
        </p:blipFill>
        <p:spPr bwMode="auto">
          <a:xfrm>
            <a:off x="10116185" y="0"/>
            <a:ext cx="8171813" cy="1143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88569" y="9651557"/>
            <a:ext cx="3491478" cy="11863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1371600">
        <a:lnSpc>
          <a:spcPct val="90000"/>
        </a:lnSpc>
        <a:spcBef>
          <a:spcPts val="0"/>
        </a:spcBef>
        <a:buNone/>
        <a:defRPr sz="6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>
        <a:lnSpc>
          <a:spcPct val="90000"/>
        </a:lnSpc>
        <a:spcBef>
          <a:spcPts val="1500"/>
        </a:spcBef>
        <a:buFont typeface="Arial"/>
        <a:buChar char="•"/>
        <a:defRPr sz="4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8025051" y="10298241"/>
            <a:ext cx="9914260" cy="906131"/>
          </a:xfrm>
          <a:prstGeom prst="rect">
            <a:avLst/>
          </a:prstGeom>
        </p:spPr>
      </p:pic>
      <p:sp>
        <p:nvSpPr>
          <p:cNvPr id="4" name="Прямоугольник 3"/>
          <p:cNvSpPr/>
          <p:nvPr userDrawn="1"/>
        </p:nvSpPr>
        <p:spPr bwMode="auto">
          <a:xfrm>
            <a:off x="8304551" y="164891"/>
            <a:ext cx="9983449" cy="1409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88569" y="9758597"/>
            <a:ext cx="3176448" cy="10792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1371600">
        <a:lnSpc>
          <a:spcPct val="90000"/>
        </a:lnSpc>
        <a:spcBef>
          <a:spcPts val="0"/>
        </a:spcBef>
        <a:buNone/>
        <a:defRPr sz="6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>
        <a:lnSpc>
          <a:spcPct val="90000"/>
        </a:lnSpc>
        <a:spcBef>
          <a:spcPts val="1500"/>
        </a:spcBef>
        <a:buFont typeface="Arial"/>
        <a:buChar char="•"/>
        <a:defRPr sz="4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>
        <a:lnSpc>
          <a:spcPct val="90000"/>
        </a:lnSpc>
        <a:spcBef>
          <a:spcPts val="750"/>
        </a:spcBef>
        <a:buFont typeface="Arial"/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>
        <a:defRPr sz="2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7041438" y="1"/>
            <a:ext cx="1094951" cy="15814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4315607" y="6021892"/>
            <a:ext cx="5175762" cy="51757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88569" y="9758597"/>
            <a:ext cx="3176448" cy="10792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88569" y="9758597"/>
            <a:ext cx="3176448" cy="1079291"/>
          </a:xfrm>
          <a:prstGeom prst="rect">
            <a:avLst/>
          </a:prstGeom>
        </p:spPr>
      </p:pic>
      <p:sp>
        <p:nvSpPr>
          <p:cNvPr id="4" name="Прямоугольник 3"/>
          <p:cNvSpPr/>
          <p:nvPr userDrawn="1"/>
        </p:nvSpPr>
        <p:spPr bwMode="auto">
          <a:xfrm>
            <a:off x="12411856" y="5765592"/>
            <a:ext cx="5876144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0"/>
            <a:ext cx="5876144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-3318760" y="-2862811"/>
            <a:ext cx="8022412" cy="773461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3829993" y="6610662"/>
            <a:ext cx="5766310" cy="62958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868648" y="712636"/>
            <a:ext cx="2579090" cy="876321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auto">
          <a:xfrm>
            <a:off x="14078606" y="7336043"/>
            <a:ext cx="4209393" cy="4093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42402" y="1882777"/>
            <a:ext cx="11026869" cy="1846542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Mont Bold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blipFill>
          <a:blip r:embed="rId2">
            <a:lum/>
          </a:blip>
          <a:srcRect l="5357" r="5357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ZD-Titl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ZD-Title 2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ZD-Subtitl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RZD-Subtitl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ZD-Inside">
  <a:themeElements>
    <a:clrScheme name="Custom 1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RZD-Inside">
  <a:themeElements>
    <a:clrScheme name="Custom 1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RZD-Inside">
  <a:themeElements>
    <a:clrScheme name="Custom 1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DocSecurity>0</DocSecurity>
  <PresentationFormat>Произвольный</PresentationFormat>
  <Paragraphs>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11</vt:i4>
      </vt:variant>
    </vt:vector>
  </HeadingPairs>
  <TitlesOfParts>
    <vt:vector size="23" baseType="lpstr">
      <vt:lpstr>Arial</vt:lpstr>
      <vt:lpstr>Calibri</vt:lpstr>
      <vt:lpstr>Mont</vt:lpstr>
      <vt:lpstr>Mont Bold</vt:lpstr>
      <vt:lpstr>Mont Heavy DEMO</vt:lpstr>
      <vt:lpstr>RZD-Title 1</vt:lpstr>
      <vt:lpstr>RZD-Title 2</vt:lpstr>
      <vt:lpstr>RZD-Subtitle</vt:lpstr>
      <vt:lpstr>2_RZD-Subtitle</vt:lpstr>
      <vt:lpstr>RZD-Inside</vt:lpstr>
      <vt:lpstr>1_RZD-Inside</vt:lpstr>
      <vt:lpstr>2_RZD-Inside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Черныш Владислав Сергеевич</cp:lastModifiedBy>
  <cp:revision>37</cp:revision>
  <dcterms:created xsi:type="dcterms:W3CDTF">2018-05-30T08:35:04Z</dcterms:created>
  <dcterms:modified xsi:type="dcterms:W3CDTF">2024-10-29T06:49:52Z</dcterms:modified>
  <cp:category/>
  <dc:identifier/>
  <cp:contentStatus/>
  <dc:language/>
  <cp:version/>
</cp:coreProperties>
</file>