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953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B7801-7C2A-42C9-8AFD-527119F18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CFDAFC-9DBF-4F0B-8584-7E08F1ED6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48327C-EA2C-4D67-BAEB-21EC1BDF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F9DA26-E6DE-4924-95D9-74BAE53D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87D6B-CCB4-4148-83F7-65CB53F9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18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6AAE1-E4D7-4132-B3AC-3C47E9E2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B37EF9-7DAB-4B23-9F03-C174B1A7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84B6B-FE0B-4D16-B21B-1561F511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C8498F-6528-4C81-9E1A-79154975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1C802-B51B-46D9-8A99-D3D818B9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82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DF2FC-7D3D-4089-97AD-895E1FC5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0B62B2-96BE-4678-BF36-79C0956AF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B831D3-D174-4E71-8036-EF93559E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B490EC-AEA3-4171-93D6-7BE07A8E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5B7BF-3C2F-4042-9471-AC34BFF5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2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A4220-B3D7-4814-9E13-7B9450BC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398904-164D-4767-9080-DCBCB86FE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260D52-0051-4DF9-96B3-02C8042B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F8AFF7-AA67-4C7C-A765-EF4B0549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425301-0FCC-4FA2-A9AF-5107F16C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8DA848-23E2-4BFF-9B48-0F8A3CCB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7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CA4DE-F7DD-47C5-BAC1-D24D09F9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B81B75-3A8C-49CE-9537-E0073A4BC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15D3DE-A8C0-432E-9B38-E2D8703E9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CD9855-635F-41EC-BA69-D279E1EE3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648FC7-D80D-400B-ACF3-E0341E3D7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32625E-898A-42DE-BC14-C9F028A3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923955-B400-4E2E-ABED-12800C84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8CCF2C-5D70-4341-9A59-F8EF6A77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33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C536D-EF8B-45ED-8D6E-5A18FD7B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EF98D1-DA49-425B-9838-0E658C1E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1ECC9A-DC33-445C-B341-7182F4D74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8C8828-FDAD-4476-8546-3B49385E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01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0A5949-E863-42B1-B09B-90F433CD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9A5BAC-CE2D-456C-B271-433B7E7B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BD476E-C594-4912-999F-C85B1397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12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1C6C0-9710-4047-820E-F38711BA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870BDE-8D74-4BF8-A15E-6C0D5498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E574D5-0F86-46DE-B22A-98E54F940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F1D321-DEDA-4CE0-97AA-723E6DA5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29D9C5-032B-4D23-ADE5-4C5202C8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F0F1BB-F155-4001-BD9B-A65D2296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E4EC-AADC-4EC4-9635-B9DC68779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B15F17-A9DF-4EDE-ACBB-EAD734141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BF3A89-E1C3-4655-BE3E-CD52BA8BF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42968E-1874-4FE8-AB16-65248D7C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D5EA99-9020-46CD-98A5-C72CF955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8BEC17-8090-4C4D-8C70-D847521E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2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9A156-9A06-4E50-B19E-095FB25E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0CC8C2-F033-4F45-B0E0-3758D342D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E014A6-0239-4978-8145-2D15FD09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C8D5B-48B9-4CE4-AED1-00D722F1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1A2DC-FE38-4206-919A-AC44A84C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06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01E107-8F14-4B77-A5BC-B05CE42BF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50C433-0DC2-4E1F-96A0-4A81D81DB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468C79-813A-477B-B7F3-C34DEB41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2D1F59-7A8C-4D1C-A5BA-68691F58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66E368-2EA3-4438-BABC-78CA4803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6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1075B2-7AF0-4B3D-8661-2E20C089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5D93D1-15A4-402E-AD66-E0E5F8E5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699A94-BD54-4AA2-A074-F37F440D2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95553-7602-44CC-BBB8-3404F4B98649}" type="datetimeFigureOut">
              <a:rPr lang="ru-RU" smtClean="0"/>
              <a:t>29.02.2024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63746D-89DA-4D56-8BE6-CCABA991C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C91C72-0BC6-4AF0-82C5-9BF73433F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AE83B-3453-434D-BFEC-0963F8222E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86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7587C9-B4D6-4CB8-9FE2-A32CA812B6D4}"/>
              </a:ext>
            </a:extLst>
          </p:cNvPr>
          <p:cNvSpPr/>
          <p:nvPr/>
        </p:nvSpPr>
        <p:spPr>
          <a:xfrm>
            <a:off x="7804200" y="307941"/>
            <a:ext cx="3009017" cy="2076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82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8B3D52-94D2-4A02-824E-8E1BE4D02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58" y="6352463"/>
            <a:ext cx="978613" cy="413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B1F3EC-172A-4124-B5C1-A728A92C570B}"/>
              </a:ext>
            </a:extLst>
          </p:cNvPr>
          <p:cNvSpPr txBox="1"/>
          <p:nvPr/>
        </p:nvSpPr>
        <p:spPr>
          <a:xfrm>
            <a:off x="1581023" y="307941"/>
            <a:ext cx="5740710" cy="134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39" dirty="0">
                <a:solidFill>
                  <a:srgbClr val="002060"/>
                </a:solidFill>
                <a:latin typeface="Mont Bold" panose="00000900000000000000" pitchFamily="2" charset="0"/>
              </a:rPr>
              <a:t>РАЗВИТИЕ ПРОФЕССИОНАЛЬНЫХ КОМПЕТЕНЦИЙ РУКОВОДИТЕЛЕЙ </a:t>
            </a:r>
          </a:p>
          <a:p>
            <a:r>
              <a:rPr lang="ru-RU" sz="1839" dirty="0">
                <a:solidFill>
                  <a:srgbClr val="002060"/>
                </a:solidFill>
                <a:latin typeface="Mont Bold" panose="00000900000000000000" pitchFamily="2" charset="0"/>
              </a:rPr>
              <a:t>БЛОКА УПРАВЛЕНИЯ ДВИЖЕНИЕМ</a:t>
            </a:r>
          </a:p>
          <a:p>
            <a:endParaRPr lang="ru-RU" sz="1314" dirty="0">
              <a:solidFill>
                <a:srgbClr val="002060"/>
              </a:solidFill>
              <a:latin typeface="Mont Bold" panose="00000900000000000000" pitchFamily="2" charset="0"/>
            </a:endParaRPr>
          </a:p>
          <a:p>
            <a:r>
              <a:rPr lang="ru-RU" sz="1314" dirty="0">
                <a:solidFill>
                  <a:srgbClr val="002060"/>
                </a:solidFill>
                <a:latin typeface="Mont Bold" panose="00000900000000000000" pitchFamily="2" charset="0"/>
              </a:rPr>
              <a:t>Архитектура образовательной программы </a:t>
            </a:r>
          </a:p>
        </p:txBody>
      </p:sp>
      <p:grpSp>
        <p:nvGrpSpPr>
          <p:cNvPr id="141" name="Группа 140">
            <a:extLst>
              <a:ext uri="{FF2B5EF4-FFF2-40B4-BE49-F238E27FC236}">
                <a16:creationId xmlns:a16="http://schemas.microsoft.com/office/drawing/2014/main" id="{E269FEE8-0C22-49E0-877F-EF9491B8491B}"/>
              </a:ext>
            </a:extLst>
          </p:cNvPr>
          <p:cNvGrpSpPr/>
          <p:nvPr/>
        </p:nvGrpSpPr>
        <p:grpSpPr>
          <a:xfrm>
            <a:off x="1257298" y="2512437"/>
            <a:ext cx="8905815" cy="651866"/>
            <a:chOff x="725056" y="2373902"/>
            <a:chExt cx="13273130" cy="1393417"/>
          </a:xfrm>
        </p:grpSpPr>
        <p:grpSp>
          <p:nvGrpSpPr>
            <p:cNvPr id="143" name="Группа 7">
              <a:extLst>
                <a:ext uri="{FF2B5EF4-FFF2-40B4-BE49-F238E27FC236}">
                  <a16:creationId xmlns:a16="http://schemas.microsoft.com/office/drawing/2014/main" id="{78E3738D-F362-4621-A60C-A382261FBBAD}"/>
                </a:ext>
              </a:extLst>
            </p:cNvPr>
            <p:cNvGrpSpPr/>
            <p:nvPr/>
          </p:nvGrpSpPr>
          <p:grpSpPr>
            <a:xfrm>
              <a:off x="725056" y="2373902"/>
              <a:ext cx="2666612" cy="1367726"/>
              <a:chOff x="376703" y="1630347"/>
              <a:chExt cx="1999960" cy="1025794"/>
            </a:xfrm>
          </p:grpSpPr>
          <p:sp>
            <p:nvSpPr>
              <p:cNvPr id="161" name="Скругленный прямоугольник 16">
                <a:extLst>
                  <a:ext uri="{FF2B5EF4-FFF2-40B4-BE49-F238E27FC236}">
                    <a16:creationId xmlns:a16="http://schemas.microsoft.com/office/drawing/2014/main" id="{8ECB7854-7507-46D6-B5CF-453736B98DD1}"/>
                  </a:ext>
                </a:extLst>
              </p:cNvPr>
              <p:cNvSpPr/>
              <p:nvPr/>
            </p:nvSpPr>
            <p:spPr>
              <a:xfrm>
                <a:off x="785355" y="1630347"/>
                <a:ext cx="1202190" cy="1025794"/>
              </a:xfrm>
              <a:prstGeom prst="roundRect">
                <a:avLst>
                  <a:gd name="adj" fmla="val 6725"/>
                </a:avLst>
              </a:prstGeom>
              <a:solidFill>
                <a:srgbClr val="0B1ECF"/>
              </a:solidFill>
              <a:ln>
                <a:noFill/>
              </a:ln>
              <a:effectLst>
                <a:outerShdw blurRad="50800" dist="381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706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92A0638D-02B0-470E-81B6-65D2FD653E23}"/>
                  </a:ext>
                </a:extLst>
              </p:cNvPr>
              <p:cNvSpPr txBox="1"/>
              <p:nvPr/>
            </p:nvSpPr>
            <p:spPr>
              <a:xfrm>
                <a:off x="461808" y="1728106"/>
                <a:ext cx="1838683" cy="472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314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1 МОДУЛЬ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F712A886-1A0F-4FBB-83F4-8BFA66245D18}"/>
                  </a:ext>
                </a:extLst>
              </p:cNvPr>
              <p:cNvSpPr txBox="1"/>
              <p:nvPr/>
            </p:nvSpPr>
            <p:spPr>
              <a:xfrm>
                <a:off x="376703" y="2062242"/>
                <a:ext cx="1999960" cy="54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sz="394" dirty="0">
                  <a:solidFill>
                    <a:schemeClr val="bg1"/>
                  </a:solidFill>
                  <a:latin typeface="Mont Bold" panose="00000900000000000000" pitchFamily="50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4 дня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очно</a:t>
                </a:r>
              </a:p>
            </p:txBody>
          </p:sp>
        </p:grpSp>
        <p:sp>
          <p:nvSpPr>
            <p:cNvPr id="145" name="Скругленный прямоугольник 13">
              <a:extLst>
                <a:ext uri="{FF2B5EF4-FFF2-40B4-BE49-F238E27FC236}">
                  <a16:creationId xmlns:a16="http://schemas.microsoft.com/office/drawing/2014/main" id="{F06B559C-3CBA-4ECF-A538-B3223543F09E}"/>
                </a:ext>
              </a:extLst>
            </p:cNvPr>
            <p:cNvSpPr/>
            <p:nvPr/>
          </p:nvSpPr>
          <p:spPr>
            <a:xfrm>
              <a:off x="6459496" y="2613326"/>
              <a:ext cx="2163809" cy="871169"/>
            </a:xfrm>
            <a:prstGeom prst="roundRect">
              <a:avLst>
                <a:gd name="adj" fmla="val 16063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38100" dir="2700000" sx="101000" sy="101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577"/>
            </a:p>
          </p:txBody>
        </p:sp>
        <p:grpSp>
          <p:nvGrpSpPr>
            <p:cNvPr id="147" name="Группа 9">
              <a:extLst>
                <a:ext uri="{FF2B5EF4-FFF2-40B4-BE49-F238E27FC236}">
                  <a16:creationId xmlns:a16="http://schemas.microsoft.com/office/drawing/2014/main" id="{85C586F8-E816-453C-A15E-B4F60F53414D}"/>
                </a:ext>
              </a:extLst>
            </p:cNvPr>
            <p:cNvGrpSpPr/>
            <p:nvPr/>
          </p:nvGrpSpPr>
          <p:grpSpPr>
            <a:xfrm>
              <a:off x="4737489" y="2375928"/>
              <a:ext cx="1932727" cy="1367722"/>
              <a:chOff x="4154102" y="1631866"/>
              <a:chExt cx="1449545" cy="1025792"/>
            </a:xfrm>
          </p:grpSpPr>
          <p:sp>
            <p:nvSpPr>
              <p:cNvPr id="158" name="Скругленный прямоугольник 15">
                <a:extLst>
                  <a:ext uri="{FF2B5EF4-FFF2-40B4-BE49-F238E27FC236}">
                    <a16:creationId xmlns:a16="http://schemas.microsoft.com/office/drawing/2014/main" id="{EB359BCB-81C3-44E2-8F25-768B17864F04}"/>
                  </a:ext>
                </a:extLst>
              </p:cNvPr>
              <p:cNvSpPr/>
              <p:nvPr/>
            </p:nvSpPr>
            <p:spPr>
              <a:xfrm>
                <a:off x="4295489" y="1631866"/>
                <a:ext cx="1202190" cy="1025792"/>
              </a:xfrm>
              <a:prstGeom prst="roundRect">
                <a:avLst>
                  <a:gd name="adj" fmla="val 6725"/>
                </a:avLst>
              </a:prstGeom>
              <a:solidFill>
                <a:srgbClr val="0B1ECF"/>
              </a:solidFill>
              <a:ln>
                <a:noFill/>
              </a:ln>
              <a:effectLst>
                <a:outerShdw blurRad="50800" dist="381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706"/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485D794-15CB-4511-B056-9F1DDC3CDFDC}"/>
                  </a:ext>
                </a:extLst>
              </p:cNvPr>
              <p:cNvSpPr txBox="1"/>
              <p:nvPr/>
            </p:nvSpPr>
            <p:spPr>
              <a:xfrm>
                <a:off x="4154102" y="1746576"/>
                <a:ext cx="1449545" cy="47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314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2 МОДУЛЬ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580DAC8-EAE6-4FBD-ACDA-34C192F54C2E}"/>
                  </a:ext>
                </a:extLst>
              </p:cNvPr>
              <p:cNvSpPr txBox="1"/>
              <p:nvPr/>
            </p:nvSpPr>
            <p:spPr>
              <a:xfrm>
                <a:off x="4313858" y="2050380"/>
                <a:ext cx="1139071" cy="54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sz="394" dirty="0">
                  <a:solidFill>
                    <a:schemeClr val="bg1"/>
                  </a:solidFill>
                  <a:latin typeface="Mont Bold" panose="00000900000000000000" pitchFamily="50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4 дня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очно</a:t>
                </a:r>
              </a:p>
            </p:txBody>
          </p:sp>
        </p:grpSp>
        <p:sp>
          <p:nvSpPr>
            <p:cNvPr id="148" name="Скругленный прямоугольник 13">
              <a:extLst>
                <a:ext uri="{FF2B5EF4-FFF2-40B4-BE49-F238E27FC236}">
                  <a16:creationId xmlns:a16="http://schemas.microsoft.com/office/drawing/2014/main" id="{F3AFDA37-2223-4CEE-BB57-38503D29EC11}"/>
                </a:ext>
              </a:extLst>
            </p:cNvPr>
            <p:cNvSpPr/>
            <p:nvPr/>
          </p:nvSpPr>
          <p:spPr>
            <a:xfrm>
              <a:off x="10065361" y="2608316"/>
              <a:ext cx="2163809" cy="871169"/>
            </a:xfrm>
            <a:prstGeom prst="roundRect">
              <a:avLst>
                <a:gd name="adj" fmla="val 16063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38100" dir="2700000" sx="101000" sy="101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577"/>
            </a:p>
          </p:txBody>
        </p:sp>
        <p:grpSp>
          <p:nvGrpSpPr>
            <p:cNvPr id="150" name="Группа 11">
              <a:extLst>
                <a:ext uri="{FF2B5EF4-FFF2-40B4-BE49-F238E27FC236}">
                  <a16:creationId xmlns:a16="http://schemas.microsoft.com/office/drawing/2014/main" id="{227709C7-4A01-4D63-9F52-6F302876E5F1}"/>
                </a:ext>
              </a:extLst>
            </p:cNvPr>
            <p:cNvGrpSpPr/>
            <p:nvPr/>
          </p:nvGrpSpPr>
          <p:grpSpPr>
            <a:xfrm>
              <a:off x="8228807" y="2377318"/>
              <a:ext cx="2253682" cy="1367724"/>
              <a:chOff x="6358869" y="1632908"/>
              <a:chExt cx="1690260" cy="1025793"/>
            </a:xfrm>
          </p:grpSpPr>
          <p:sp>
            <p:nvSpPr>
              <p:cNvPr id="155" name="Скругленный прямоугольник 15">
                <a:extLst>
                  <a:ext uri="{FF2B5EF4-FFF2-40B4-BE49-F238E27FC236}">
                    <a16:creationId xmlns:a16="http://schemas.microsoft.com/office/drawing/2014/main" id="{34CC1F16-8E23-4B40-9EBF-63B82CD1BC2D}"/>
                  </a:ext>
                </a:extLst>
              </p:cNvPr>
              <p:cNvSpPr/>
              <p:nvPr/>
            </p:nvSpPr>
            <p:spPr>
              <a:xfrm>
                <a:off x="6597446" y="1632908"/>
                <a:ext cx="1202189" cy="1025793"/>
              </a:xfrm>
              <a:prstGeom prst="roundRect">
                <a:avLst>
                  <a:gd name="adj" fmla="val 8983"/>
                </a:avLst>
              </a:prstGeom>
              <a:solidFill>
                <a:srgbClr val="0B1ECF"/>
              </a:solidFill>
              <a:ln>
                <a:noFill/>
              </a:ln>
              <a:effectLst>
                <a:outerShdw blurRad="50800" dist="381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706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45CAEEC-3DD0-45B7-A491-860722A480FE}"/>
                  </a:ext>
                </a:extLst>
              </p:cNvPr>
              <p:cNvSpPr txBox="1"/>
              <p:nvPr/>
            </p:nvSpPr>
            <p:spPr>
              <a:xfrm>
                <a:off x="6358869" y="1747621"/>
                <a:ext cx="1690260" cy="47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314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3 МОДУЛЬ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AC49DCA-C59E-4791-BA61-96CF416EEF29}"/>
                  </a:ext>
                </a:extLst>
              </p:cNvPr>
              <p:cNvSpPr txBox="1"/>
              <p:nvPr/>
            </p:nvSpPr>
            <p:spPr>
              <a:xfrm>
                <a:off x="6505945" y="2056881"/>
                <a:ext cx="1355141" cy="54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sz="394" dirty="0">
                  <a:solidFill>
                    <a:schemeClr val="bg1"/>
                  </a:solidFill>
                  <a:latin typeface="Mont Bold" panose="00000900000000000000" pitchFamily="50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4 дня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очно</a:t>
                </a:r>
                <a:endParaRPr lang="ru-RU" sz="1051" dirty="0">
                  <a:solidFill>
                    <a:schemeClr val="bg1"/>
                  </a:solidFill>
                  <a:latin typeface="Mont Bold" panose="00000900000000000000" pitchFamily="50" charset="0"/>
                </a:endParaRPr>
              </a:p>
            </p:txBody>
          </p:sp>
        </p:grpSp>
        <p:grpSp>
          <p:nvGrpSpPr>
            <p:cNvPr id="151" name="Группа 4">
              <a:extLst>
                <a:ext uri="{FF2B5EF4-FFF2-40B4-BE49-F238E27FC236}">
                  <a16:creationId xmlns:a16="http://schemas.microsoft.com/office/drawing/2014/main" id="{FB1BB4FD-3A55-4F17-AB11-CF516C0F51BE}"/>
                </a:ext>
              </a:extLst>
            </p:cNvPr>
            <p:cNvGrpSpPr/>
            <p:nvPr/>
          </p:nvGrpSpPr>
          <p:grpSpPr>
            <a:xfrm>
              <a:off x="11920519" y="2399595"/>
              <a:ext cx="2077667" cy="1367724"/>
              <a:chOff x="10014261" y="1649616"/>
              <a:chExt cx="1558249" cy="1025793"/>
            </a:xfrm>
          </p:grpSpPr>
          <p:sp>
            <p:nvSpPr>
              <p:cNvPr id="152" name="Скругленный прямоугольник 15">
                <a:extLst>
                  <a:ext uri="{FF2B5EF4-FFF2-40B4-BE49-F238E27FC236}">
                    <a16:creationId xmlns:a16="http://schemas.microsoft.com/office/drawing/2014/main" id="{0857F90E-5461-466F-BCE0-96480612B95B}"/>
                  </a:ext>
                </a:extLst>
              </p:cNvPr>
              <p:cNvSpPr/>
              <p:nvPr/>
            </p:nvSpPr>
            <p:spPr>
              <a:xfrm>
                <a:off x="10186833" y="1649616"/>
                <a:ext cx="1202191" cy="1025793"/>
              </a:xfrm>
              <a:prstGeom prst="roundRect">
                <a:avLst>
                  <a:gd name="adj" fmla="val 10113"/>
                </a:avLst>
              </a:prstGeom>
              <a:solidFill>
                <a:srgbClr val="0B1ECF"/>
              </a:solidFill>
              <a:ln>
                <a:noFill/>
              </a:ln>
              <a:effectLst>
                <a:outerShdw blurRad="50800" dist="381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706"/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5C01E521-7DD6-4A62-8734-1E39E45C6D43}"/>
                  </a:ext>
                </a:extLst>
              </p:cNvPr>
              <p:cNvSpPr txBox="1"/>
              <p:nvPr/>
            </p:nvSpPr>
            <p:spPr>
              <a:xfrm>
                <a:off x="10014261" y="1764326"/>
                <a:ext cx="1558249" cy="47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314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4 МОДУЛЬ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C8EEA77D-F9FD-42D1-AD61-12C04A1AE909}"/>
                  </a:ext>
                </a:extLst>
              </p:cNvPr>
              <p:cNvSpPr txBox="1"/>
              <p:nvPr/>
            </p:nvSpPr>
            <p:spPr>
              <a:xfrm>
                <a:off x="10076329" y="2093003"/>
                <a:ext cx="1420521" cy="54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sz="394" dirty="0">
                  <a:solidFill>
                    <a:schemeClr val="bg1"/>
                  </a:solidFill>
                  <a:latin typeface="Mont Bold" panose="00000900000000000000" pitchFamily="50" charset="0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4 дня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ru-RU" sz="788" dirty="0">
                    <a:solidFill>
                      <a:schemeClr val="bg1"/>
                    </a:solidFill>
                    <a:latin typeface="Mont Bold" panose="00000900000000000000" pitchFamily="50" charset="0"/>
                  </a:rPr>
                  <a:t>очно</a:t>
                </a:r>
              </a:p>
            </p:txBody>
          </p:sp>
        </p:grp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82EEE12A-8E10-47C5-A191-B82D5F3271B0}"/>
              </a:ext>
            </a:extLst>
          </p:cNvPr>
          <p:cNvSpPr txBox="1"/>
          <p:nvPr/>
        </p:nvSpPr>
        <p:spPr>
          <a:xfrm>
            <a:off x="8307626" y="1114761"/>
            <a:ext cx="2295104" cy="133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051" dirty="0">
                <a:solidFill>
                  <a:srgbClr val="004BD2"/>
                </a:solidFill>
                <a:latin typeface="Mont Bold" panose="00000900000000000000" pitchFamily="2" charset="0"/>
              </a:rPr>
              <a:t>Каждый модуль:</a:t>
            </a:r>
          </a:p>
          <a:p>
            <a:pPr>
              <a:lnSpc>
                <a:spcPct val="90000"/>
              </a:lnSpc>
            </a:pPr>
            <a:endParaRPr lang="ru-RU" sz="526" b="1" dirty="0">
              <a:solidFill>
                <a:srgbClr val="004BD2"/>
              </a:solidFill>
              <a:latin typeface="Mont Black" panose="00000A00000000000000" pitchFamily="2" charset="0"/>
            </a:endParaRPr>
          </a:p>
          <a:p>
            <a:pPr marL="174153" indent="-11575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920" b="1" dirty="0">
                <a:solidFill>
                  <a:srgbClr val="004BD2"/>
                </a:solidFill>
                <a:latin typeface="Mont Black" panose="00000A00000000000000" pitchFamily="2" charset="0"/>
              </a:rPr>
              <a:t>30 </a:t>
            </a:r>
            <a:r>
              <a:rPr lang="ru-RU" sz="920" b="1" dirty="0">
                <a:solidFill>
                  <a:srgbClr val="004BD2"/>
                </a:solidFill>
                <a:latin typeface="Mont" panose="020B0604020202020204" charset="0"/>
              </a:rPr>
              <a:t>часов в формате тренинг-семинара</a:t>
            </a:r>
            <a:endParaRPr lang="ru-RU" sz="920" dirty="0">
              <a:solidFill>
                <a:srgbClr val="004BD2"/>
              </a:solidFill>
              <a:latin typeface="Mont" panose="020B0604020202020204" charset="0"/>
            </a:endParaRPr>
          </a:p>
          <a:p>
            <a:pPr marL="174153" indent="-11575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920" b="1" dirty="0">
                <a:solidFill>
                  <a:srgbClr val="004BD2"/>
                </a:solidFill>
                <a:latin typeface="Mont Black" panose="00000A00000000000000" pitchFamily="2" charset="0"/>
              </a:rPr>
              <a:t>10</a:t>
            </a:r>
            <a:r>
              <a:rPr lang="ru-RU" sz="920" b="1" dirty="0">
                <a:solidFill>
                  <a:srgbClr val="004BD2"/>
                </a:solidFill>
                <a:latin typeface="Mont" panose="020B0604020202020204" charset="0"/>
              </a:rPr>
              <a:t> часов </a:t>
            </a:r>
            <a:r>
              <a:rPr lang="ru-RU" sz="920" dirty="0">
                <a:solidFill>
                  <a:srgbClr val="004BD2"/>
                </a:solidFill>
                <a:latin typeface="Mont" panose="020B0604020202020204" charset="0"/>
              </a:rPr>
              <a:t>– изучение лучших практик работы в регионе                  с выездом на предприятия</a:t>
            </a:r>
          </a:p>
          <a:p>
            <a:pPr marL="174153" indent="-11575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920" b="1" dirty="0">
                <a:solidFill>
                  <a:srgbClr val="004BD2"/>
                </a:solidFill>
                <a:latin typeface="Mont Black" panose="00000A00000000000000" pitchFamily="2" charset="0"/>
              </a:rPr>
              <a:t>10</a:t>
            </a:r>
            <a:r>
              <a:rPr lang="ru-RU" sz="920" b="1" dirty="0">
                <a:solidFill>
                  <a:srgbClr val="004BD2"/>
                </a:solidFill>
                <a:latin typeface="Mont" panose="020B0604020202020204" charset="0"/>
              </a:rPr>
              <a:t> часов </a:t>
            </a:r>
            <a:r>
              <a:rPr lang="ru-RU" sz="920" dirty="0">
                <a:solidFill>
                  <a:srgbClr val="004BD2"/>
                </a:solidFill>
                <a:latin typeface="Mont" panose="020B0604020202020204" charset="0"/>
              </a:rPr>
              <a:t>– электронное обучение</a:t>
            </a:r>
            <a:r>
              <a:rPr lang="ru-RU" sz="920" b="1" dirty="0">
                <a:solidFill>
                  <a:srgbClr val="004BD2"/>
                </a:solidFill>
                <a:latin typeface="Mont" panose="020B0604020202020204" charset="0"/>
              </a:rPr>
              <a:t>     </a:t>
            </a:r>
          </a:p>
          <a:p>
            <a:pPr marL="174153" indent="-115754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920" b="1" dirty="0">
                <a:solidFill>
                  <a:srgbClr val="004BD2"/>
                </a:solidFill>
                <a:latin typeface="Mont" panose="020B0604020202020204" charset="0"/>
              </a:rPr>
              <a:t>итоговое тестирование</a:t>
            </a:r>
          </a:p>
        </p:txBody>
      </p:sp>
      <p:sp>
        <p:nvSpPr>
          <p:cNvPr id="170" name="TextBox 12">
            <a:extLst>
              <a:ext uri="{FF2B5EF4-FFF2-40B4-BE49-F238E27FC236}">
                <a16:creationId xmlns:a16="http://schemas.microsoft.com/office/drawing/2014/main" id="{1C73B770-60E9-4C39-9CA1-76CC13EBB231}"/>
              </a:ext>
            </a:extLst>
          </p:cNvPr>
          <p:cNvSpPr txBox="1"/>
          <p:nvPr/>
        </p:nvSpPr>
        <p:spPr>
          <a:xfrm>
            <a:off x="1513962" y="4917151"/>
            <a:ext cx="2170219" cy="133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Перевозочные документы и правила их заполнения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Оформление перевозочных документов на погрузку; проверка перевозочных документов при выдаче груза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Оформление первичной документации на железнодорожных станциях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Проведение коммерческих операций на железнодорожных станциях и составление коммерческих актов. Устранение коммерческих неисправностей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Оформление задержек грузовых отправок и увеличение срока доставки при перевозках железнодорожным транспортом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Суточный клиентский план погрузки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«Грузовая и коммерческая работа»</a:t>
            </a:r>
          </a:p>
        </p:txBody>
      </p:sp>
      <p:sp>
        <p:nvSpPr>
          <p:cNvPr id="174" name="TextBox 12">
            <a:extLst>
              <a:ext uri="{FF2B5EF4-FFF2-40B4-BE49-F238E27FC236}">
                <a16:creationId xmlns:a16="http://schemas.microsoft.com/office/drawing/2014/main" id="{994F8B2E-A44E-4C5D-8F18-8DFDBE5FAEFB}"/>
              </a:ext>
            </a:extLst>
          </p:cNvPr>
          <p:cNvSpPr txBox="1"/>
          <p:nvPr/>
        </p:nvSpPr>
        <p:spPr>
          <a:xfrm>
            <a:off x="1529980" y="3256341"/>
            <a:ext cx="1789205" cy="27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Организация работы железнодорожной станции</a:t>
            </a:r>
          </a:p>
        </p:txBody>
      </p:sp>
      <p:grpSp>
        <p:nvGrpSpPr>
          <p:cNvPr id="343" name="Группа 342">
            <a:extLst>
              <a:ext uri="{FF2B5EF4-FFF2-40B4-BE49-F238E27FC236}">
                <a16:creationId xmlns:a16="http://schemas.microsoft.com/office/drawing/2014/main" id="{6D4C83CF-4586-4000-BF4A-1EE327E06EDE}"/>
              </a:ext>
            </a:extLst>
          </p:cNvPr>
          <p:cNvGrpSpPr/>
          <p:nvPr/>
        </p:nvGrpSpPr>
        <p:grpSpPr>
          <a:xfrm>
            <a:off x="7967724" y="391437"/>
            <a:ext cx="2696522" cy="809318"/>
            <a:chOff x="12261409" y="252961"/>
            <a:chExt cx="1623664" cy="583736"/>
          </a:xfrm>
          <a:solidFill>
            <a:srgbClr val="00B050"/>
          </a:solidFill>
        </p:grpSpPr>
        <p:sp>
          <p:nvSpPr>
            <p:cNvPr id="344" name="Параллелограмм 343">
              <a:extLst>
                <a:ext uri="{FF2B5EF4-FFF2-40B4-BE49-F238E27FC236}">
                  <a16:creationId xmlns:a16="http://schemas.microsoft.com/office/drawing/2014/main" id="{B911C02E-EEE3-4A93-A7E9-422BBA4D2541}"/>
                </a:ext>
              </a:extLst>
            </p:cNvPr>
            <p:cNvSpPr/>
            <p:nvPr/>
          </p:nvSpPr>
          <p:spPr>
            <a:xfrm rot="6785333" flipH="1">
              <a:off x="13437523" y="506342"/>
              <a:ext cx="523291" cy="137419"/>
            </a:xfrm>
            <a:prstGeom prst="parallelogram">
              <a:avLst>
                <a:gd name="adj" fmla="val 125477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155" dirty="0">
                <a:solidFill>
                  <a:srgbClr val="901818"/>
                </a:solidFill>
              </a:endParaRPr>
            </a:p>
          </p:txBody>
        </p:sp>
        <p:sp>
          <p:nvSpPr>
            <p:cNvPr id="345" name="Параллелограмм 344">
              <a:extLst>
                <a:ext uri="{FF2B5EF4-FFF2-40B4-BE49-F238E27FC236}">
                  <a16:creationId xmlns:a16="http://schemas.microsoft.com/office/drawing/2014/main" id="{C0D95F13-805F-4B99-A7B1-097172315912}"/>
                </a:ext>
              </a:extLst>
            </p:cNvPr>
            <p:cNvSpPr/>
            <p:nvPr/>
          </p:nvSpPr>
          <p:spPr>
            <a:xfrm>
              <a:off x="12261409" y="252961"/>
              <a:ext cx="1623664" cy="415748"/>
            </a:xfrm>
            <a:prstGeom prst="parallelogram">
              <a:avLst>
                <a:gd name="adj" fmla="val 4271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155">
                <a:solidFill>
                  <a:srgbClr val="901818"/>
                </a:solidFill>
              </a:endParaRPr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206DA538-3FB1-47AE-94B6-DF1089F0044B}"/>
              </a:ext>
            </a:extLst>
          </p:cNvPr>
          <p:cNvSpPr txBox="1"/>
          <p:nvPr/>
        </p:nvSpPr>
        <p:spPr>
          <a:xfrm>
            <a:off x="8281466" y="472606"/>
            <a:ext cx="2493035" cy="49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839" dirty="0">
                <a:solidFill>
                  <a:schemeClr val="bg1"/>
                </a:solidFill>
                <a:latin typeface="Mont Black" panose="00000A00000000000000" pitchFamily="2" charset="0"/>
              </a:rPr>
              <a:t>190</a:t>
            </a:r>
            <a:r>
              <a:rPr lang="ru-RU" sz="1839" dirty="0">
                <a:solidFill>
                  <a:schemeClr val="bg1"/>
                </a:solidFill>
                <a:latin typeface="Mont" panose="020B0604020202020204" charset="0"/>
              </a:rPr>
              <a:t> часов </a:t>
            </a:r>
          </a:p>
          <a:p>
            <a:pPr>
              <a:lnSpc>
                <a:spcPct val="90000"/>
              </a:lnSpc>
            </a:pPr>
            <a:r>
              <a:rPr lang="ru-RU" sz="1051" dirty="0">
                <a:solidFill>
                  <a:schemeClr val="bg1"/>
                </a:solidFill>
                <a:latin typeface="Mont" panose="020B0604020202020204" charset="0"/>
              </a:rPr>
              <a:t>очно-заочное обучение</a:t>
            </a:r>
            <a:endParaRPr lang="ru-RU" sz="1314" dirty="0">
              <a:solidFill>
                <a:schemeClr val="bg1"/>
              </a:solidFill>
              <a:latin typeface="Mont" panose="020B0604020202020204" charset="0"/>
            </a:endParaRPr>
          </a:p>
        </p:txBody>
      </p:sp>
      <p:sp>
        <p:nvSpPr>
          <p:cNvPr id="266" name="TextBox 12">
            <a:extLst>
              <a:ext uri="{FF2B5EF4-FFF2-40B4-BE49-F238E27FC236}">
                <a16:creationId xmlns:a16="http://schemas.microsoft.com/office/drawing/2014/main" id="{4D2A39DB-4BCD-4FCE-A1CC-F34D6196BEB3}"/>
              </a:ext>
            </a:extLst>
          </p:cNvPr>
          <p:cNvSpPr txBox="1"/>
          <p:nvPr/>
        </p:nvSpPr>
        <p:spPr>
          <a:xfrm>
            <a:off x="1529980" y="3518696"/>
            <a:ext cx="1960792" cy="11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Техническо-распорядительный акт железнодорожной станции и приложения к нему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Технологический процесс работы железнодорожной станции и приложения к нему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Организация эксплуатационной работы во взаимодействии с диспетчерским центром управления перевозками и смежными предприятиями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Работа сортировочных устройств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Анализ работы железнодорожной станции. Профильные АСУ блока «Организация работы станции»</a:t>
            </a:r>
          </a:p>
        </p:txBody>
      </p:sp>
      <p:sp>
        <p:nvSpPr>
          <p:cNvPr id="267" name="TextBox 12">
            <a:extLst>
              <a:ext uri="{FF2B5EF4-FFF2-40B4-BE49-F238E27FC236}">
                <a16:creationId xmlns:a16="http://schemas.microsoft.com/office/drawing/2014/main" id="{6AE261F1-1AA0-4BB4-9C88-07D52EB541D3}"/>
              </a:ext>
            </a:extLst>
          </p:cNvPr>
          <p:cNvSpPr txBox="1"/>
          <p:nvPr/>
        </p:nvSpPr>
        <p:spPr>
          <a:xfrm>
            <a:off x="1516463" y="4647427"/>
            <a:ext cx="1516522" cy="27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Грузовая и коммерческая работа</a:t>
            </a:r>
          </a:p>
        </p:txBody>
      </p:sp>
      <p:sp>
        <p:nvSpPr>
          <p:cNvPr id="268" name="TextBox 12">
            <a:extLst>
              <a:ext uri="{FF2B5EF4-FFF2-40B4-BE49-F238E27FC236}">
                <a16:creationId xmlns:a16="http://schemas.microsoft.com/office/drawing/2014/main" id="{F65E2B50-D8F5-4601-8605-F781E1C3F51C}"/>
              </a:ext>
            </a:extLst>
          </p:cNvPr>
          <p:cNvSpPr txBox="1"/>
          <p:nvPr/>
        </p:nvSpPr>
        <p:spPr>
          <a:xfrm>
            <a:off x="3946405" y="3256342"/>
            <a:ext cx="1516522" cy="27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Организация вагонопотоков</a:t>
            </a:r>
          </a:p>
        </p:txBody>
      </p:sp>
      <p:sp>
        <p:nvSpPr>
          <p:cNvPr id="269" name="TextBox 12">
            <a:extLst>
              <a:ext uri="{FF2B5EF4-FFF2-40B4-BE49-F238E27FC236}">
                <a16:creationId xmlns:a16="http://schemas.microsoft.com/office/drawing/2014/main" id="{18834C4D-9049-45DD-B89B-1A3600CA5564}"/>
              </a:ext>
            </a:extLst>
          </p:cNvPr>
          <p:cNvSpPr txBox="1"/>
          <p:nvPr/>
        </p:nvSpPr>
        <p:spPr>
          <a:xfrm>
            <a:off x="3987378" y="3499328"/>
            <a:ext cx="1960791" cy="83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Организация вагонопотоков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Организация маршрутных перевозок, их классификация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Составление и контроль исполнения плана формирования поездов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«Организация вагонопотоков»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Требования нормативных и отраслевых документов при организации работы с приватным вагонным парком</a:t>
            </a:r>
          </a:p>
        </p:txBody>
      </p:sp>
      <p:sp>
        <p:nvSpPr>
          <p:cNvPr id="270" name="TextBox 12">
            <a:extLst>
              <a:ext uri="{FF2B5EF4-FFF2-40B4-BE49-F238E27FC236}">
                <a16:creationId xmlns:a16="http://schemas.microsoft.com/office/drawing/2014/main" id="{E00EA462-9EDC-4F45-9275-0DA8593692BE}"/>
              </a:ext>
            </a:extLst>
          </p:cNvPr>
          <p:cNvSpPr txBox="1"/>
          <p:nvPr/>
        </p:nvSpPr>
        <p:spPr>
          <a:xfrm>
            <a:off x="6362830" y="3256342"/>
            <a:ext cx="2086191" cy="27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Организация «окон» в графике движения поездов</a:t>
            </a:r>
          </a:p>
        </p:txBody>
      </p:sp>
      <p:sp>
        <p:nvSpPr>
          <p:cNvPr id="271" name="TextBox 12">
            <a:extLst>
              <a:ext uri="{FF2B5EF4-FFF2-40B4-BE49-F238E27FC236}">
                <a16:creationId xmlns:a16="http://schemas.microsoft.com/office/drawing/2014/main" id="{7A31C06B-F807-495C-A32A-4CCBC37FFA23}"/>
              </a:ext>
            </a:extLst>
          </p:cNvPr>
          <p:cNvSpPr txBox="1"/>
          <p:nvPr/>
        </p:nvSpPr>
        <p:spPr>
          <a:xfrm>
            <a:off x="6411835" y="3499328"/>
            <a:ext cx="2086191" cy="133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Разработка директивного плана ремонтных и строительных работ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Предоставление «окон» и организации движения хозяйственных поездов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Согласование заявок на предоставление «окон»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Проведение ремонтных и строительно-монтажных работ в ОАО «РЖД». Анализ необходимых документов. Особенности при организации «окон»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Разработка временных инструкций на период реконструкции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Разработка вариантного графика движения поездов.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«Организация «окон» в графике движения поездов»</a:t>
            </a:r>
          </a:p>
        </p:txBody>
      </p:sp>
      <p:sp>
        <p:nvSpPr>
          <p:cNvPr id="279" name="TextBox 12">
            <a:extLst>
              <a:ext uri="{FF2B5EF4-FFF2-40B4-BE49-F238E27FC236}">
                <a16:creationId xmlns:a16="http://schemas.microsoft.com/office/drawing/2014/main" id="{66266E24-7351-4F9D-B79E-47B8DDB62A32}"/>
              </a:ext>
            </a:extLst>
          </p:cNvPr>
          <p:cNvSpPr txBox="1"/>
          <p:nvPr/>
        </p:nvSpPr>
        <p:spPr>
          <a:xfrm>
            <a:off x="8801639" y="3281975"/>
            <a:ext cx="2086191" cy="356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Нормирование и анализ показателей эксплуатационной работы</a:t>
            </a:r>
          </a:p>
        </p:txBody>
      </p:sp>
      <p:sp>
        <p:nvSpPr>
          <p:cNvPr id="280" name="TextBox 12">
            <a:extLst>
              <a:ext uri="{FF2B5EF4-FFF2-40B4-BE49-F238E27FC236}">
                <a16:creationId xmlns:a16="http://schemas.microsoft.com/office/drawing/2014/main" id="{72C17237-6DD5-499B-9F33-BA02D34CF2D0}"/>
              </a:ext>
            </a:extLst>
          </p:cNvPr>
          <p:cNvSpPr txBox="1"/>
          <p:nvPr/>
        </p:nvSpPr>
        <p:spPr>
          <a:xfrm>
            <a:off x="8852879" y="3524962"/>
            <a:ext cx="1960339" cy="1493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Сменно-суточное планирование эксплуатационной работы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Текущее планирование эксплуатационной работы и контроль за выполнением показателей работы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Оперативное управление местной работой. Порядок разработки технологического процесса организации местной работы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Основы разработки технических норм работы вагонных парков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Показатели работы вагонных парков и методика их расчета, формы статистической отчетности и порядок формирования первичного учета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«Нормирование эксплуатационной работы»</a:t>
            </a:r>
          </a:p>
        </p:txBody>
      </p:sp>
      <p:sp>
        <p:nvSpPr>
          <p:cNvPr id="281" name="TextBox 12">
            <a:extLst>
              <a:ext uri="{FF2B5EF4-FFF2-40B4-BE49-F238E27FC236}">
                <a16:creationId xmlns:a16="http://schemas.microsoft.com/office/drawing/2014/main" id="{D383FB2C-9CF0-4DBC-8B1F-58F326AB9E68}"/>
              </a:ext>
            </a:extLst>
          </p:cNvPr>
          <p:cNvSpPr txBox="1"/>
          <p:nvPr/>
        </p:nvSpPr>
        <p:spPr>
          <a:xfrm>
            <a:off x="3979369" y="4647658"/>
            <a:ext cx="1808807" cy="1013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Классификация графиков движения поездов, принципы их разработки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Классификация и нумерация поездов, очередность пропуска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Элементы и показатели графика движения поездов, порядок их расчета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Формирование исходных данных и отчетных форм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«График движения поездов»</a:t>
            </a:r>
          </a:p>
        </p:txBody>
      </p:sp>
      <p:sp>
        <p:nvSpPr>
          <p:cNvPr id="282" name="TextBox 12">
            <a:extLst>
              <a:ext uri="{FF2B5EF4-FFF2-40B4-BE49-F238E27FC236}">
                <a16:creationId xmlns:a16="http://schemas.microsoft.com/office/drawing/2014/main" id="{5F5CC621-8025-482A-AD60-C0C5D500BFEC}"/>
              </a:ext>
            </a:extLst>
          </p:cNvPr>
          <p:cNvSpPr txBox="1"/>
          <p:nvPr/>
        </p:nvSpPr>
        <p:spPr>
          <a:xfrm>
            <a:off x="3937733" y="4426917"/>
            <a:ext cx="2118220" cy="186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График движения поездов</a:t>
            </a:r>
          </a:p>
        </p:txBody>
      </p:sp>
      <p:sp>
        <p:nvSpPr>
          <p:cNvPr id="283" name="TextBox 12">
            <a:extLst>
              <a:ext uri="{FF2B5EF4-FFF2-40B4-BE49-F238E27FC236}">
                <a16:creationId xmlns:a16="http://schemas.microsoft.com/office/drawing/2014/main" id="{6403C7AA-65EE-48A7-B03E-7953C779E397}"/>
              </a:ext>
            </a:extLst>
          </p:cNvPr>
          <p:cNvSpPr txBox="1"/>
          <p:nvPr/>
        </p:nvSpPr>
        <p:spPr>
          <a:xfrm>
            <a:off x="6403825" y="5327354"/>
            <a:ext cx="1935758" cy="1078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Методики расчета, анализа и контроля основных качественных и количественных показателей использования локомотивов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Регулирование времени труда и отдыха локомотивных бригад, особенности работы локомотивных бригад при организации движения поездов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«Организация работы локомотивов и локомотивных бригад»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Расчет и учет парка локомотивов грузового и маневрового движения</a:t>
            </a:r>
          </a:p>
        </p:txBody>
      </p:sp>
      <p:sp>
        <p:nvSpPr>
          <p:cNvPr id="285" name="TextBox 12">
            <a:extLst>
              <a:ext uri="{FF2B5EF4-FFF2-40B4-BE49-F238E27FC236}">
                <a16:creationId xmlns:a16="http://schemas.microsoft.com/office/drawing/2014/main" id="{22E37469-537F-44DE-AF34-1B9FBF200B36}"/>
              </a:ext>
            </a:extLst>
          </p:cNvPr>
          <p:cNvSpPr txBox="1"/>
          <p:nvPr/>
        </p:nvSpPr>
        <p:spPr>
          <a:xfrm>
            <a:off x="6353152" y="5038069"/>
            <a:ext cx="2086191" cy="356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Организация работы локомотивов и локомотивных бригад</a:t>
            </a:r>
          </a:p>
        </p:txBody>
      </p:sp>
      <p:sp>
        <p:nvSpPr>
          <p:cNvPr id="286" name="TextBox 12">
            <a:extLst>
              <a:ext uri="{FF2B5EF4-FFF2-40B4-BE49-F238E27FC236}">
                <a16:creationId xmlns:a16="http://schemas.microsoft.com/office/drawing/2014/main" id="{2FC88CBA-0C16-45D9-987A-656E6283D4DB}"/>
              </a:ext>
            </a:extLst>
          </p:cNvPr>
          <p:cNvSpPr txBox="1"/>
          <p:nvPr/>
        </p:nvSpPr>
        <p:spPr>
          <a:xfrm>
            <a:off x="8851075" y="5268808"/>
            <a:ext cx="2026574" cy="1519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Расчет качественных показателей использования тягового подвижного состава; формы статистической отчетности и первичный учет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Формирование показателей эксплуатационной работы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Ключевые показатели эффективности для ОАО «РЖД», ЦД.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Цели, методы контроля и анализа выполнения показателей эксплуатационной работы на железнодорожном транспорте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Направления сводной программы повышения операционной эффективности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Узловая рабочая группа</a:t>
            </a:r>
          </a:p>
          <a:p>
            <a:pPr marL="128295" indent="-48875">
              <a:spcBef>
                <a:spcPts val="225"/>
              </a:spcBef>
              <a:buClr>
                <a:srgbClr val="241DCF"/>
              </a:buClr>
              <a:buFont typeface="Wingdings" panose="05000000000000000000" pitchFamily="2" charset="2"/>
              <a:buChar char="§"/>
            </a:pPr>
            <a:r>
              <a:rPr lang="ru-RU" sz="591" dirty="0">
                <a:latin typeface="Arial Narrow" panose="020B0606020202030204" pitchFamily="34" charset="0"/>
              </a:rPr>
              <a:t>Профильные АСУ блока «Управление эксплуатационной работой»</a:t>
            </a:r>
          </a:p>
        </p:txBody>
      </p:sp>
      <p:sp>
        <p:nvSpPr>
          <p:cNvPr id="288" name="TextBox 12">
            <a:extLst>
              <a:ext uri="{FF2B5EF4-FFF2-40B4-BE49-F238E27FC236}">
                <a16:creationId xmlns:a16="http://schemas.microsoft.com/office/drawing/2014/main" id="{C19719DB-6DA2-472B-BF62-779FC9D22418}"/>
              </a:ext>
            </a:extLst>
          </p:cNvPr>
          <p:cNvSpPr txBox="1"/>
          <p:nvPr/>
        </p:nvSpPr>
        <p:spPr>
          <a:xfrm>
            <a:off x="8796767" y="5024514"/>
            <a:ext cx="1932353" cy="27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421">
              <a:lnSpc>
                <a:spcPct val="70000"/>
              </a:lnSpc>
              <a:buClr>
                <a:srgbClr val="241DCF"/>
              </a:buClr>
            </a:pPr>
            <a:r>
              <a:rPr lang="ru-RU" sz="788" b="1" dirty="0">
                <a:solidFill>
                  <a:srgbClr val="0B1ECF"/>
                </a:solidFill>
                <a:latin typeface="Mont Black" panose="00000A00000000000000" pitchFamily="2" charset="0"/>
              </a:rPr>
              <a:t>Оперативное управление эксплуатационной работой </a:t>
            </a:r>
          </a:p>
        </p:txBody>
      </p:sp>
      <p:sp>
        <p:nvSpPr>
          <p:cNvPr id="3" name="Стрелка: шеврон 2">
            <a:extLst>
              <a:ext uri="{FF2B5EF4-FFF2-40B4-BE49-F238E27FC236}">
                <a16:creationId xmlns:a16="http://schemas.microsoft.com/office/drawing/2014/main" id="{F3EDFB46-3636-4120-AE3C-92C9BF21BC05}"/>
              </a:ext>
            </a:extLst>
          </p:cNvPr>
          <p:cNvSpPr/>
          <p:nvPr/>
        </p:nvSpPr>
        <p:spPr>
          <a:xfrm>
            <a:off x="3762453" y="2520422"/>
            <a:ext cx="230255" cy="631862"/>
          </a:xfrm>
          <a:prstGeom prst="chevron">
            <a:avLst>
              <a:gd name="adj" fmla="val 70728"/>
            </a:avLst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82">
              <a:solidFill>
                <a:schemeClr val="tx1"/>
              </a:solidFill>
            </a:endParaRPr>
          </a:p>
        </p:txBody>
      </p:sp>
      <p:sp>
        <p:nvSpPr>
          <p:cNvPr id="51" name="Стрелка: шеврон 50">
            <a:extLst>
              <a:ext uri="{FF2B5EF4-FFF2-40B4-BE49-F238E27FC236}">
                <a16:creationId xmlns:a16="http://schemas.microsoft.com/office/drawing/2014/main" id="{01772600-F748-4FBB-9A3A-B7C826C9055C}"/>
              </a:ext>
            </a:extLst>
          </p:cNvPr>
          <p:cNvSpPr/>
          <p:nvPr/>
        </p:nvSpPr>
        <p:spPr>
          <a:xfrm>
            <a:off x="6204113" y="2520422"/>
            <a:ext cx="230255" cy="631862"/>
          </a:xfrm>
          <a:prstGeom prst="chevron">
            <a:avLst>
              <a:gd name="adj" fmla="val 70728"/>
            </a:avLst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82">
              <a:solidFill>
                <a:schemeClr val="tx1"/>
              </a:solidFill>
            </a:endParaRPr>
          </a:p>
        </p:txBody>
      </p:sp>
      <p:sp>
        <p:nvSpPr>
          <p:cNvPr id="52" name="Стрелка: шеврон 51">
            <a:extLst>
              <a:ext uri="{FF2B5EF4-FFF2-40B4-BE49-F238E27FC236}">
                <a16:creationId xmlns:a16="http://schemas.microsoft.com/office/drawing/2014/main" id="{9409E7CC-F633-4AE2-A12D-8EC660BC7BF0}"/>
              </a:ext>
            </a:extLst>
          </p:cNvPr>
          <p:cNvSpPr/>
          <p:nvPr/>
        </p:nvSpPr>
        <p:spPr>
          <a:xfrm>
            <a:off x="8634297" y="2520422"/>
            <a:ext cx="230255" cy="630606"/>
          </a:xfrm>
          <a:prstGeom prst="chevron">
            <a:avLst>
              <a:gd name="adj" fmla="val 70728"/>
            </a:avLst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82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FAE54-B0FE-483E-8357-49E1AA700B53}"/>
              </a:ext>
            </a:extLst>
          </p:cNvPr>
          <p:cNvSpPr txBox="1"/>
          <p:nvPr/>
        </p:nvSpPr>
        <p:spPr>
          <a:xfrm>
            <a:off x="2697842" y="2634775"/>
            <a:ext cx="1132756" cy="75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Межмодульная </a:t>
            </a:r>
          </a:p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работа</a:t>
            </a:r>
            <a:b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</a:br>
            <a: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  <a:t>электронный курс</a:t>
            </a:r>
          </a:p>
          <a:p>
            <a:endParaRPr lang="ru-RU" sz="1182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4F413E-3092-4315-9D34-731CE5E44583}"/>
              </a:ext>
            </a:extLst>
          </p:cNvPr>
          <p:cNvSpPr txBox="1"/>
          <p:nvPr/>
        </p:nvSpPr>
        <p:spPr>
          <a:xfrm>
            <a:off x="5146815" y="2634775"/>
            <a:ext cx="1132756" cy="75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Межмодульная </a:t>
            </a:r>
          </a:p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работа</a:t>
            </a:r>
            <a:b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</a:br>
            <a: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  <a:t>электронный курс</a:t>
            </a:r>
          </a:p>
          <a:p>
            <a:endParaRPr lang="ru-RU" sz="1182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6F45C0-B06A-46DD-BEF5-3FAA601691C2}"/>
              </a:ext>
            </a:extLst>
          </p:cNvPr>
          <p:cNvSpPr txBox="1"/>
          <p:nvPr/>
        </p:nvSpPr>
        <p:spPr>
          <a:xfrm>
            <a:off x="7558504" y="2641100"/>
            <a:ext cx="1132756" cy="75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Межмодульная </a:t>
            </a:r>
          </a:p>
          <a:p>
            <a:pPr algn="ctr"/>
            <a:r>
              <a:rPr lang="ru-RU" sz="788" dirty="0">
                <a:solidFill>
                  <a:srgbClr val="002060"/>
                </a:solidFill>
                <a:latin typeface="Mont" panose="00000700000000000000" pitchFamily="2" charset="0"/>
              </a:rPr>
              <a:t>работа</a:t>
            </a:r>
            <a:b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</a:br>
            <a:r>
              <a:rPr lang="ru-RU" sz="788" dirty="0">
                <a:solidFill>
                  <a:srgbClr val="002060"/>
                </a:solidFill>
                <a:latin typeface="Mont Bold" panose="00000700000000000000" pitchFamily="50" charset="0"/>
              </a:rPr>
              <a:t>электронный курс</a:t>
            </a:r>
          </a:p>
          <a:p>
            <a:endParaRPr lang="ru-RU" sz="1182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FB6B05-706F-41DD-AC97-0CCB542B3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77" y="1396921"/>
            <a:ext cx="4429550" cy="133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61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Широкоэкранный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Mont</vt:lpstr>
      <vt:lpstr>Mont Black</vt:lpstr>
      <vt:lpstr>Mont Bold</vt:lpstr>
      <vt:lpstr>Wingdings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Стольникова Мария Евгеньевна</dc:creator>
  <cp:lastModifiedBy>Стольникова Мария Евгеньевна</cp:lastModifiedBy>
  <cp:revision>1</cp:revision>
  <dcterms:created xsi:type="dcterms:W3CDTF">2024-02-29T06:43:54Z</dcterms:created>
  <dcterms:modified xsi:type="dcterms:W3CDTF">2024-02-29T06:44:25Z</dcterms:modified>
</cp:coreProperties>
</file>